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Type="http://schemas.openxmlformats.org/officeDocument/2006/relationships/officeDocument" Target="/ppt/presentation.xml" Id="R7ec20ffe2bc74f66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0c5ad9943df44b6"/>
    <p:sldId id="257" r:id="Re8344926699f42d3"/>
    <p:sldId id="258" r:id="R95a6900daed24f37"/>
    <p:sldId id="259" r:id="R0d0a76db890e4fbe"/>
    <p:sldId id="260" r:id="Rf158d054a3804cde"/>
    <p:sldId id="262" r:id="rId3"/>
    <p:sldId id="263" r:id="rId5"/>
    <p:sldId id="264" r:id="rId4"/>
    <p:sldId id="265" r:id="rId6"/>
    <p:sldId id="261" r:id="Raa7816982cb540f0"/>
  </p:sldIdLst>
  <p:sldSz cx="12192000" cy="6858000"/>
  <p:notesSz cx="6858000" cy="9144000"/>
</p:presentation>
</file>

<file path=ppt/_rels/presentation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Id1"/><Relationship Type="http://schemas.openxmlformats.org/officeDocument/2006/relationships/theme" Target="/ppt/theme/theme1.xml" Id="rId2"/><Relationship Type="http://schemas.openxmlformats.org/officeDocument/2006/relationships/slide" Target="/ppt/slides/slide1.xml" Id="R30c5ad9943df44b6"/><Relationship Type="http://schemas.openxmlformats.org/officeDocument/2006/relationships/slide" Target="/ppt/slides/slide2.xml" Id="Re8344926699f42d3"/><Relationship Type="http://schemas.openxmlformats.org/officeDocument/2006/relationships/slide" Target="/ppt/slides/slide3.xml" Id="R95a6900daed24f37"/><Relationship Type="http://schemas.openxmlformats.org/officeDocument/2006/relationships/slide" Target="/ppt/slides/slide4.xml" Id="R0d0a76db890e4fbe"/><Relationship Type="http://schemas.openxmlformats.org/officeDocument/2006/relationships/slide" Target="/ppt/slides/slide5.xml" Id="Rf158d054a3804cde"/><Relationship Type="http://schemas.openxmlformats.org/officeDocument/2006/relationships/slide" Target="/ppt/slides/slide7.xml" Id="rId3"/><Relationship Type="http://schemas.openxmlformats.org/officeDocument/2006/relationships/slide" Target="/ppt/slides/slide9.xml" Id="rId5"/><Relationship Type="http://schemas.openxmlformats.org/officeDocument/2006/relationships/slide" Target="/ppt/slides/slide8.xml" Id="rId4"/><Relationship Type="http://schemas.openxmlformats.org/officeDocument/2006/relationships/slide" Target="/ppt/slides/slide10.xml" Id="rId6"/><Relationship Type="http://schemas.openxmlformats.org/officeDocument/2006/relationships/slide" Target="/ppt/slides/slide6.xml" Id="Raa7816982cb540f0"/></Relationship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c97d9e0e97084a4b"/></Relationships>
</file>

<file path=ppt/slideLayouts/_rels/slideLayout2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4453fd14bace4930"/></Relationships>
</file>

<file path=ppt/slideLayouts/_rels/slideLayout3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a51eadac7d834244"/></Relationships>
</file>

<file path=ppt/slideLayouts/_rels/slideLayout4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c2a54e3485584bfb"/></Relationships>
</file>

<file path=ppt/slideLayouts/_rels/slideLayout5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a136f725651d4efa"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1"/><Relationship Type="http://schemas.openxmlformats.org/officeDocument/2006/relationships/theme" Target="/ppt/theme/theme1.xml" Id="R456360bc2e33402d"/><Relationship Type="http://schemas.openxmlformats.org/officeDocument/2006/relationships/slideLayout" Target="/ppt/slideLayouts/slideLayout2.xml" Id="rId2"/><Relationship Type="http://schemas.openxmlformats.org/officeDocument/2006/relationships/slideLayout" Target="/ppt/slideLayouts/slideLayout3.xml" Id="rId3"/><Relationship Type="http://schemas.openxmlformats.org/officeDocument/2006/relationships/slideLayout" Target="/ppt/slideLayouts/slideLayout4.xml" Id="rId4"/><Relationship Type="http://schemas.openxmlformats.org/officeDocument/2006/relationships/slideLayout" Target="/ppt/slideLayouts/slideLayout5.xml" Id="rId5"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f63ab0d08f84cf1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caddb9a54154b41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bc9011cd7914eda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655456a8cfb4532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301324b9de84456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4ce48d089a1433e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f63ab0d08f84cf1"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f63ab0d08f84cf1"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f63ab0d08f84cf1"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f63ab0d08f84cf1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A3632"/>
        </a:solidFill>
      </p:bgPr>
    </p:bg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 xmlns:a="http://schemas.openxmlformats.org/drawingml/2006/main">
            <a:off x="0" y="540000"/>
            <a:ext cx="121932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1" name="TextBox 2"/>
          <p:cNvSpPr/>
          <p:nvPr/>
        </p:nvSpPr>
        <p:spPr>
          <a:xfrm xmlns:a="http://schemas.openxmlformats.org/drawingml/2006/main">
            <a:off x="1440000" y="1800000"/>
            <a:ext cx="936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 b="1">
                <a:solidFill>
                  <a:srgbClr val="F5F0EB"/>
                </a:solidFill>
                <a:latin typeface="Microsoft JhengHei"/>
                <a:ea typeface="Microsoft JhengHei"/>
              </a:rPr>
              <a:t>新語生活</a:t>
            </a:r>
          </a:p>
        </p:txBody>
      </p:sp>
      <p:sp>
        <p:nvSpPr>
          <p:cNvPr id="10002" name="TextBox 3"/>
          <p:cNvSpPr/>
          <p:nvPr/>
        </p:nvSpPr>
        <p:spPr>
          <a:xfrm xmlns:a="http://schemas.openxmlformats.org/drawingml/2006/main">
            <a:off x="1440000" y="3060000"/>
            <a:ext cx="936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spc="800">
                <a:solidFill>
                  <a:srgbClr val="C4A882"/>
                </a:solidFill>
                <a:latin typeface="Calibri"/>
                <a:ea typeface="Calibri"/>
              </a:rPr>
              <a:t>NewLife</a:t>
            </a:r>
          </a:p>
        </p:txBody>
      </p:sp>
      <p:sp>
        <p:nvSpPr>
          <p:cNvPr id="10003" name="TextBox 4"/>
          <p:cNvSpPr/>
          <p:nvPr/>
        </p:nvSpPr>
        <p:spPr>
          <a:xfrm xmlns:a="http://schemas.openxmlformats.org/drawingml/2006/main">
            <a:off x="1440000" y="4140000"/>
            <a:ext cx="936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>
                <a:solidFill>
                  <a:srgbClr val="A09888"/>
                </a:solidFill>
                <a:latin typeface="Microsoft JhengHei"/>
                <a:ea typeface="Microsoft JhengHei"/>
              </a:rPr>
              <a:t>居家用品市場趨勢與下季行動建議</a:t>
            </a:r>
          </a:p>
        </p:txBody>
      </p:sp>
      <p:sp>
        <p:nvSpPr>
          <p:cNvPr id="10004" name="TextBox 5"/>
          <p:cNvSpPr/>
          <p:nvPr/>
        </p:nvSpPr>
        <p:spPr>
          <a:xfrm xmlns:a="http://schemas.openxmlformats.org/drawingml/2006/main">
            <a:off x="1440000" y="5400000"/>
            <a:ext cx="936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8B7D6B"/>
                </a:solidFill>
                <a:latin typeface="Microsoft JhengHei"/>
                <a:ea typeface="Microsoft JhengHei"/>
              </a:rPr>
              <a:t>2023.Q1  |  市場策略部</a:t>
            </a:r>
          </a:p>
        </p:txBody>
      </p:sp>
      <p:sp>
        <p:nvSpPr>
          <p:cNvPr id="10005" name="TextBox 6"/>
          <p:cNvSpPr/>
          <p:nvPr/>
        </p:nvSpPr>
        <p:spPr>
          <a:xfrm xmlns:a="http://schemas.openxmlformats.org/drawingml/2006/main">
            <a:off x="5580000" y="5040000"/>
            <a:ext cx="108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B"/>
        </a:solidFill>
      </p:bgPr>
    </p:bg>
    <p:spTree>
      <p:nvGrpSpPr>
        <p:cNvPr id="1" name=""/>
        <p:cNvGrpSpPr/>
        <p:nvPr/>
      </p:nvGrpSpPr>
      <p:grpSpPr/>
      <p:sp>
        <p:nvSpPr>
          <p:cNvPr id="10006" name="TextBox 1"/>
          <p:cNvSpPr/>
          <p:nvPr/>
        </p:nvSpPr>
        <p:spPr>
          <a:xfrm xmlns:a="http://schemas.openxmlformats.org/drawingml/2006/main">
            <a:off x="0" y="0"/>
            <a:ext cx="36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D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7" name="TextBox 2"/>
          <p:cNvSpPr/>
          <p:nvPr/>
        </p:nvSpPr>
        <p:spPr>
          <a:xfrm xmlns:a="http://schemas.openxmlformats.org/drawingml/2006/main">
            <a:off x="900000" y="540000"/>
            <a:ext cx="432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3A3632"/>
                </a:solidFill>
                <a:latin typeface="Microsoft JhengHei"/>
                <a:ea typeface="Microsoft JhengHei"/>
              </a:rPr>
              <a:t>議程</a:t>
            </a:r>
          </a:p>
        </p:txBody>
      </p:sp>
      <p:sp>
        <p:nvSpPr>
          <p:cNvPr id="10008" name="TextBox 3"/>
          <p:cNvSpPr/>
          <p:nvPr/>
        </p:nvSpPr>
        <p:spPr>
          <a:xfrm xmlns:a="http://schemas.openxmlformats.org/drawingml/2006/main">
            <a:off x="900000" y="1368000"/>
            <a:ext cx="43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spc="400">
                <a:solidFill>
                  <a:srgbClr val="8B7D6B"/>
                </a:solidFill>
                <a:latin typeface="Calibri"/>
                <a:ea typeface="Calibri"/>
              </a:rPr>
              <a:t>AGENDA</a:t>
            </a:r>
          </a:p>
        </p:txBody>
      </p:sp>
      <p:sp>
        <p:nvSpPr>
          <p:cNvPr id="10009" name="TextBox 4"/>
          <p:cNvSpPr/>
          <p:nvPr/>
        </p:nvSpPr>
        <p:spPr>
          <a:xfrm xmlns:a="http://schemas.openxmlformats.org/drawingml/2006/main">
            <a:off x="900000" y="1872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0" name="TextBox 5"/>
          <p:cNvSpPr/>
          <p:nvPr/>
        </p:nvSpPr>
        <p:spPr>
          <a:xfrm xmlns:a="http://schemas.openxmlformats.org/drawingml/2006/main">
            <a:off x="900000" y="2340000"/>
            <a:ext cx="1008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>
                <a:solidFill>
                  <a:srgbClr val="3A3632"/>
                </a:solidFill>
                <a:latin typeface="Microsoft JhengHei"/>
                <a:ea typeface="Microsoft JhengHei"/>
              </a:rPr>
              <a:t>01    全年績效總覽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>
                <a:solidFill>
                  <a:srgbClr val="3A3632"/>
                </a:solidFill>
                <a:latin typeface="Microsoft JhengHei"/>
                <a:ea typeface="Microsoft JhengHei"/>
              </a:rPr>
              <a:t/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>
                <a:solidFill>
                  <a:srgbClr val="3A3632"/>
                </a:solidFill>
                <a:latin typeface="Microsoft JhengHei"/>
                <a:ea typeface="Microsoft JhengHei"/>
              </a:rPr>
              <a:t>02    關鍵市場趨勢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>
                <a:solidFill>
                  <a:srgbClr val="3A3632"/>
                </a:solidFill>
                <a:latin typeface="Microsoft JhengHei"/>
                <a:ea typeface="Microsoft JhengHei"/>
              </a:rPr>
              <a:t/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>
                <a:solidFill>
                  <a:srgbClr val="3A3632"/>
                </a:solidFill>
                <a:latin typeface="Microsoft JhengHei"/>
                <a:ea typeface="Microsoft JhengHei"/>
              </a:rPr>
              <a:t>03    下季行動建議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>
                <a:solidFill>
                  <a:srgbClr val="3A3632"/>
                </a:solidFill>
                <a:latin typeface="Microsoft JhengHei"/>
                <a:ea typeface="Microsoft JhengHei"/>
              </a:rPr>
              <a:t/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>
                <a:solidFill>
                  <a:srgbClr val="3A3632"/>
                </a:solidFill>
                <a:latin typeface="Microsoft JhengHei"/>
                <a:ea typeface="Microsoft JhengHei"/>
              </a:rPr>
              <a:t>04    行動建議摘要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7D9B8A"/>
        </a:solidFill>
      </p:bgPr>
    </p:bg>
    <p:spTree>
      <p:nvGrpSpPr>
        <p:cNvPr id="1" name=""/>
        <p:cNvGrpSpPr/>
        <p:nvPr/>
      </p:nvGrpSpPr>
      <p:grpSpPr/>
      <p:sp>
        <p:nvSpPr>
          <p:cNvPr id="10011" name="TextBox 1"/>
          <p:cNvSpPr/>
          <p:nvPr/>
        </p:nvSpPr>
        <p:spPr>
          <a:xfrm xmlns:a="http://schemas.openxmlformats.org/drawingml/2006/main">
            <a:off x="1080000" y="1080000"/>
            <a:ext cx="288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600" b="1">
                <a:solidFill>
                  <a:srgbClr val="F5F0EB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012" name="TextBox 2"/>
          <p:cNvSpPr/>
          <p:nvPr/>
        </p:nvSpPr>
        <p:spPr>
          <a:xfrm xmlns:a="http://schemas.openxmlformats.org/drawingml/2006/main">
            <a:off x="1080000" y="2880000"/>
            <a:ext cx="72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Microsoft JhengHei"/>
                <a:ea typeface="Microsoft JhengHei"/>
              </a:rPr>
              <a:t>全年績效總覽</a:t>
            </a:r>
          </a:p>
        </p:txBody>
      </p:sp>
      <p:sp>
        <p:nvSpPr>
          <p:cNvPr id="10013" name="TextBox 3"/>
          <p:cNvSpPr/>
          <p:nvPr/>
        </p:nvSpPr>
        <p:spPr>
          <a:xfrm xmlns:a="http://schemas.openxmlformats.org/drawingml/2006/main">
            <a:off x="1080000" y="3960000"/>
            <a:ext cx="72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spc="300">
                <a:solidFill>
                  <a:srgbClr val="D4CBC0"/>
                </a:solidFill>
                <a:latin typeface="Calibri"/>
                <a:ea typeface="Calibri"/>
              </a:rPr>
              <a:t>2022 Annual Performance Review</a:t>
            </a:r>
          </a:p>
        </p:txBody>
      </p:sp>
      <p:sp>
        <p:nvSpPr>
          <p:cNvPr id="10014" name="TextBox 4"/>
          <p:cNvSpPr/>
          <p:nvPr/>
        </p:nvSpPr>
        <p:spPr>
          <a:xfrm xmlns:a="http://schemas.openxmlformats.org/drawingml/2006/main">
            <a:off x="1080000" y="5040000"/>
            <a:ext cx="108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B"/>
        </a:solidFill>
      </p:bgPr>
    </p:bg>
    <p:spTree>
      <p:nvGrpSpPr>
        <p:cNvPr id="1" name=""/>
        <p:cNvGrpSpPr/>
        <p:nvPr/>
      </p:nvGrpSpPr>
      <p:grpSpPr/>
      <p:sp>
        <p:nvSpPr>
          <p:cNvPr id="10015" name="Header"/>
          <p:cNvSpPr/>
          <p:nvPr/>
        </p:nvSpPr>
        <p:spPr>
          <a:xfrm xmlns:a="http://schemas.openxmlformats.org/drawingml/2006/main">
            <a:off x="0" y="0"/>
            <a:ext cx="121932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D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6" name="Title"/>
          <p:cNvSpPr/>
          <p:nvPr/>
        </p:nvSpPr>
        <p:spPr>
          <a:xfrm xmlns:a="http://schemas.openxmlformats.org/drawingml/2006/main">
            <a:off x="720000" y="18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Microsoft JhengHei"/>
                <a:ea typeface="Microsoft JhengHei"/>
              </a:rPr>
              <a:t>2022 全年績效總覽</a:t>
            </a:r>
          </a:p>
        </p:txBody>
      </p:sp>
      <p:sp>
        <p:nvSpPr>
          <p:cNvPr id="10017" name="Brand"/>
          <p:cNvSpPr/>
          <p:nvPr/>
        </p:nvSpPr>
        <p:spPr>
          <a:xfrm xmlns:a="http://schemas.openxmlformats.org/drawingml/2006/main">
            <a:off x="9720000" y="360000"/>
            <a:ext cx="1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C4A882"/>
                </a:solidFill>
                <a:latin typeface="Microsoft JhengHei"/>
                <a:ea typeface="Microsoft JhengHei"/>
              </a:rPr>
              <a:t>新語生活</a:t>
            </a:r>
          </a:p>
        </p:txBody>
      </p:sp>
      <p:sp>
        <p:nvSpPr>
          <p:cNvPr id="10018" name="Line"/>
          <p:cNvSpPr/>
          <p:nvPr/>
        </p:nvSpPr>
        <p:spPr>
          <a:xfrm xmlns:a="http://schemas.openxmlformats.org/drawingml/2006/main">
            <a:off x="720000" y="1260000"/>
            <a:ext cx="144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9" name="Content"/>
          <p:cNvSpPr/>
          <p:nvPr/>
        </p:nvSpPr>
        <p:spPr>
          <a:xfrm xmlns:a="http://schemas.openxmlformats.org/drawingml/2006/main">
            <a:off x="720000" y="1620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3200" b="1">
                <a:solidFill>
                  <a:srgbClr val="3A3632"/>
                </a:solidFill>
                <a:latin typeface="Calibri"/>
              </a:rPr>
              <a:t>$2,449K</a:t>
            </a:r>
            <a:r>
              <a:rPr lang="en-US" sz="1400">
                <a:solidFill>
                  <a:srgbClr val="8B7D6B"/>
                </a:solidFill>
                <a:latin typeface="Microsoft JhengHei"/>
                <a:ea typeface="Microsoft JhengHei"/>
              </a:rPr>
              <a:t xml:space="preserve">   全年總營收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3200" b="1">
                <a:solidFill>
                  <a:srgbClr val="3A3632"/>
                </a:solidFill>
                <a:latin typeface="Calibri"/>
              </a:rPr>
              <a:t>$892K</a:t>
            </a:r>
            <a:r>
              <a:rPr lang="en-US" sz="1400">
                <a:solidFill>
                  <a:srgbClr val="8B7D6B"/>
                </a:solidFill>
                <a:latin typeface="Microsoft JhengHei"/>
                <a:ea typeface="Microsoft JhengHei"/>
              </a:rPr>
              <a:t xml:space="preserve">   全年總利潤（平均利潤率 36.4%）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3200" b="1">
                <a:solidFill>
                  <a:srgbClr val="3A3632"/>
                </a:solidFill>
                <a:latin typeface="Calibri"/>
              </a:rPr>
              <a:t>$245K</a:t>
            </a:r>
            <a:r>
              <a:rPr lang="en-US" sz="1400">
                <a:solidFill>
                  <a:srgbClr val="8B7D6B"/>
                </a:solidFill>
                <a:latin typeface="Microsoft JhengHei"/>
                <a:ea typeface="Microsoft JhengHei"/>
              </a:rPr>
              <a:t xml:space="preserve">   12月最高月收（年末旺季高峰）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3200" b="1">
                <a:solidFill>
                  <a:srgbClr val="7D9B8A"/>
                </a:solidFill>
                <a:latin typeface="Calibri"/>
              </a:rPr>
              <a:t>+43%</a:t>
            </a:r>
            <a:r>
              <a:rPr lang="en-US" sz="1400">
                <a:solidFill>
                  <a:srgbClr val="8B7D6B"/>
                </a:solidFill>
                <a:latin typeface="Microsoft JhengHei"/>
                <a:ea typeface="Microsoft JhengHei"/>
              </a:rPr>
              <a:t xml:space="preserve">   下半年 vs 上半年營收成長（$1,008K → $1,441K）</a:t>
            </a:r>
          </a:p>
          <a:p xmlns:a="http://schemas.openxmlformats.org/drawingml/2006/main">
            <a:pPr algn="l">
              <a:lnSpc>
                <a:spcPct val="100000"/>
              </a:lnSpc>
            </a:pPr>
            <a:r>
              <a:rPr lang="en-US" sz="600">
                <a:solidFill>
                  <a:srgbClr val="3A3632"/>
                </a:solidFill>
              </a:rPr>
              <a:t/>
            </a:r>
          </a:p>
          <a:p xmlns:a="http://schemas.openxmlformats.org/drawingml/2006/main">
            <a:pPr algn="l">
              <a:lnSpc>
                <a:spcPct val="160000"/>
              </a:lnSpc>
            </a:pPr>
            <a:r>
              <a:rPr lang="en-US" sz="1300">
                <a:solidFill>
                  <a:srgbClr val="6B6560"/>
                </a:solidFill>
                <a:latin typeface="Microsoft JhengHei"/>
                <a:ea typeface="Microsoft JhengHei"/>
              </a:rPr>
              <a:t>洞察：2月觸底後穩步回升，11–12月爆發式增長，旺季較年初基期成長 +61%，旺季效應顯著放大。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B"/>
        </a:solidFill>
      </p:bgPr>
    </p:bg>
    <p:spTree>
      <p:nvGrpSpPr>
        <p:cNvPr id="1" name=""/>
        <p:cNvGrpSpPr/>
        <p:nvPr/>
      </p:nvGrpSpPr>
      <p:grpSpPr/>
      <p:sp>
        <p:nvSpPr>
          <p:cNvPr id="10020" name="Header"/>
          <p:cNvSpPr/>
          <p:nvPr/>
        </p:nvSpPr>
        <p:spPr>
          <a:xfrm xmlns:a="http://schemas.openxmlformats.org/drawingml/2006/main">
            <a:off x="0" y="0"/>
            <a:ext cx="121932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D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1" name="Title"/>
          <p:cNvSpPr/>
          <p:nvPr/>
        </p:nvSpPr>
        <p:spPr>
          <a:xfrm xmlns:a="http://schemas.openxmlformats.org/drawingml/2006/main">
            <a:off x="720000" y="18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Microsoft JhengHei"/>
                <a:ea typeface="Microsoft JhengHei"/>
              </a:rPr>
              <a:t>關鍵市場趨勢</a:t>
            </a:r>
          </a:p>
        </p:txBody>
      </p:sp>
      <p:sp>
        <p:nvSpPr>
          <p:cNvPr id="10022" name="Brand"/>
          <p:cNvSpPr/>
          <p:nvPr/>
        </p:nvSpPr>
        <p:spPr>
          <a:xfrm xmlns:a="http://schemas.openxmlformats.org/drawingml/2006/main">
            <a:off x="9720000" y="360000"/>
            <a:ext cx="1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C4A882"/>
                </a:solidFill>
                <a:latin typeface="Microsoft JhengHei"/>
                <a:ea typeface="Microsoft JhengHei"/>
              </a:rPr>
              <a:t>新語生活</a:t>
            </a:r>
          </a:p>
        </p:txBody>
      </p:sp>
      <p:sp>
        <p:nvSpPr>
          <p:cNvPr id="10023" name="Line"/>
          <p:cNvSpPr/>
          <p:nvPr/>
        </p:nvSpPr>
        <p:spPr>
          <a:xfrm xmlns:a="http://schemas.openxmlformats.org/drawingml/2006/main">
            <a:off x="720000" y="1260000"/>
            <a:ext cx="144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4" name="LeftCard"/>
          <p:cNvSpPr/>
          <p:nvPr/>
        </p:nvSpPr>
        <p:spPr>
          <a:xfrm xmlns:a="http://schemas.openxmlformats.org/drawingml/2006/main">
            <a:off x="720000" y="1800000"/>
            <a:ext cx="522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EBE6"/>
          </a:solidFill>
          <a:ln xmlns:a="http://schemas.openxmlformats.org/drawingml/2006/main" w="6350">
            <a:solidFill>
              <a:srgbClr val="D4CB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5" name="LeftTitle"/>
          <p:cNvSpPr/>
          <p:nvPr/>
        </p:nvSpPr>
        <p:spPr>
          <a:xfrm xmlns:a="http://schemas.openxmlformats.org/drawingml/2006/main">
            <a:off x="1260000" y="2088000"/>
            <a:ext cx="41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3A3632"/>
                </a:solidFill>
                <a:latin typeface="Microsoft JhengHei"/>
                <a:ea typeface="Microsoft JhengHei"/>
              </a:rPr>
              <a:t>上半年 H1</a:t>
            </a:r>
          </a:p>
        </p:txBody>
      </p:sp>
      <p:sp>
        <p:nvSpPr>
          <p:cNvPr id="10026" name="LeftContent"/>
          <p:cNvSpPr/>
          <p:nvPr/>
        </p:nvSpPr>
        <p:spPr>
          <a:xfrm xmlns:a="http://schemas.openxmlformats.org/drawingml/2006/main">
            <a:off x="1260000" y="2808000"/>
            <a:ext cx="41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3000" b="1">
                <a:solidFill>
                  <a:srgbClr val="3A3632"/>
                </a:solidFill>
                <a:latin typeface="Calibri"/>
              </a:rPr>
              <a:t>$1,008K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300">
                <a:solidFill>
                  <a:srgbClr val="6B6560"/>
                </a:solidFill>
                <a:latin typeface="Microsoft JhengHei"/>
                <a:ea typeface="Microsoft JhengHei"/>
              </a:rPr>
              <a:t>1–6月總營收</a:t>
            </a:r>
          </a:p>
          <a:p xmlns:a="http://schemas.openxmlformats.org/drawingml/2006/main">
            <a:pPr algn="l">
              <a:lnSpc>
                <a:spcPct val="100000"/>
              </a:lnSpc>
            </a:pPr>
            <a:r>
              <a:rPr lang="en-US" sz="500">
                <a:solidFill>
                  <a:srgbClr val="3A3632"/>
                </a:solidFill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3000" b="1">
                <a:solidFill>
                  <a:srgbClr val="3A3632"/>
                </a:solidFill>
                <a:latin typeface="Calibri"/>
              </a:rPr>
              <a:t>$368K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300">
                <a:solidFill>
                  <a:srgbClr val="6B6560"/>
                </a:solidFill>
                <a:latin typeface="Microsoft JhengHei"/>
                <a:ea typeface="Microsoft JhengHei"/>
              </a:rPr>
              <a:t>1–6月總利潤（利潤率 36.5%）</a:t>
            </a:r>
          </a:p>
        </p:txBody>
      </p:sp>
      <p:sp>
        <p:nvSpPr>
          <p:cNvPr id="10027" name="RightCard"/>
          <p:cNvSpPr/>
          <p:nvPr/>
        </p:nvSpPr>
        <p:spPr>
          <a:xfrm xmlns:a="http://schemas.openxmlformats.org/drawingml/2006/main">
            <a:off x="6300000" y="1800000"/>
            <a:ext cx="522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EBE6"/>
          </a:solidFill>
          <a:ln xmlns:a="http://schemas.openxmlformats.org/drawingml/2006/main" w="6350">
            <a:solidFill>
              <a:srgbClr val="D4CB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8" name="RightTitle"/>
          <p:cNvSpPr/>
          <p:nvPr/>
        </p:nvSpPr>
        <p:spPr>
          <a:xfrm xmlns:a="http://schemas.openxmlformats.org/drawingml/2006/main">
            <a:off x="6840000" y="2088000"/>
            <a:ext cx="41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7D9B8A"/>
                </a:solidFill>
                <a:latin typeface="Microsoft JhengHei"/>
                <a:ea typeface="Microsoft JhengHei"/>
              </a:rPr>
              <a:t>下半年 H2  ↑ +43%</a:t>
            </a:r>
          </a:p>
        </p:txBody>
      </p:sp>
      <p:sp>
        <p:nvSpPr>
          <p:cNvPr id="10029" name="RightContent"/>
          <p:cNvSpPr/>
          <p:nvPr/>
        </p:nvSpPr>
        <p:spPr>
          <a:xfrm xmlns:a="http://schemas.openxmlformats.org/drawingml/2006/main">
            <a:off x="6840000" y="2808000"/>
            <a:ext cx="41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3000" b="1">
                <a:solidFill>
                  <a:srgbClr val="7D9B8A"/>
                </a:solidFill>
                <a:latin typeface="Calibri"/>
              </a:rPr>
              <a:t>$1,441K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300">
                <a:solidFill>
                  <a:srgbClr val="6B6560"/>
                </a:solidFill>
                <a:latin typeface="Microsoft JhengHei"/>
                <a:ea typeface="Microsoft JhengHei"/>
              </a:rPr>
              <a:t>7–12月總營收</a:t>
            </a:r>
          </a:p>
          <a:p xmlns:a="http://schemas.openxmlformats.org/drawingml/2006/main">
            <a:pPr algn="l">
              <a:lnSpc>
                <a:spcPct val="100000"/>
              </a:lnSpc>
            </a:pPr>
            <a:r>
              <a:rPr lang="en-US" sz="500">
                <a:solidFill>
                  <a:srgbClr val="3A3632"/>
                </a:solidFill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3000" b="1">
                <a:solidFill>
                  <a:srgbClr val="7D9B8A"/>
                </a:solidFill>
                <a:latin typeface="Calibri"/>
              </a:rPr>
              <a:t>$524K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300">
                <a:solidFill>
                  <a:srgbClr val="6B6560"/>
                </a:solidFill>
                <a:latin typeface="Microsoft JhengHei"/>
                <a:ea typeface="Microsoft JhengHei"/>
              </a:rPr>
              <a:t>7–12月總利潤（利潤率 36.4%）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3A3632"/>
        </a:solidFill>
      </p:bgPr>
    </p:bg>
    <p:spTree>
      <p:nvGrpSpPr>
        <p:cNvPr id="1" name=""/>
        <p:cNvGrpSpPr/>
        <p:nvPr/>
      </p:nvGrpSpPr>
      <p:grpSpPr/>
      <p:sp>
        <p:nvSpPr>
          <p:cNvPr id="10030" name="TextBox 1"/>
          <p:cNvSpPr/>
          <p:nvPr/>
        </p:nvSpPr>
        <p:spPr>
          <a:xfrm xmlns:a="http://schemas.openxmlformats.org/drawingml/2006/main">
            <a:off x="0" y="6264000"/>
            <a:ext cx="121932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1" name="TextBox 2"/>
          <p:cNvSpPr/>
          <p:nvPr/>
        </p:nvSpPr>
        <p:spPr>
          <a:xfrm xmlns:a="http://schemas.openxmlformats.org/drawingml/2006/main">
            <a:off x="1440000" y="1620000"/>
            <a:ext cx="936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5F0EB"/>
                </a:solidFill>
                <a:latin typeface="Microsoft JhengHei"/>
                <a:ea typeface="Microsoft JhengHei"/>
              </a:rPr>
              <a:t>謝謝聆聽</a:t>
            </a:r>
          </a:p>
        </p:txBody>
      </p:sp>
      <p:sp>
        <p:nvSpPr>
          <p:cNvPr id="10032" name="TextBox 3"/>
          <p:cNvSpPr/>
          <p:nvPr/>
        </p:nvSpPr>
        <p:spPr>
          <a:xfrm xmlns:a="http://schemas.openxmlformats.org/drawingml/2006/main">
            <a:off x="1440000" y="2880000"/>
            <a:ext cx="936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spc="600">
                <a:solidFill>
                  <a:srgbClr val="C4A882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033" name="TextBox 4"/>
          <p:cNvSpPr/>
          <p:nvPr/>
        </p:nvSpPr>
        <p:spPr>
          <a:xfrm xmlns:a="http://schemas.openxmlformats.org/drawingml/2006/main">
            <a:off x="5580000" y="3780000"/>
            <a:ext cx="108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4" name="TextBox 5"/>
          <p:cNvSpPr/>
          <p:nvPr/>
        </p:nvSpPr>
        <p:spPr>
          <a:xfrm xmlns:a="http://schemas.openxmlformats.org/drawingml/2006/main">
            <a:off x="1440000" y="4320000"/>
            <a:ext cx="936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80000"/>
              </a:lnSpc>
            </a:pPr>
            <a:r>
              <a:rPr lang="en-US" sz="1200">
                <a:solidFill>
                  <a:srgbClr val="8B7D6B"/>
                </a:solidFill>
                <a:latin typeface="Microsoft JhengHei"/>
                <a:ea typeface="Microsoft JhengHei"/>
              </a:rPr>
              <a:t>新語生活 NewLife</a:t>
            </a:r>
          </a:p>
          <a:p xmlns:a="http://schemas.openxmlformats.org/drawingml/2006/main">
            <a:pPr algn="ctr">
              <a:lnSpc>
                <a:spcPct val="180000"/>
              </a:lnSpc>
            </a:pPr>
            <a:r>
              <a:rPr lang="en-US" sz="1200">
                <a:solidFill>
                  <a:srgbClr val="8B7D6B"/>
                </a:solidFill>
                <a:latin typeface="Microsoft JhengHei"/>
                <a:ea typeface="Microsoft JhengHei"/>
              </a:rPr>
              <a:t>www.newlife.com.tw  |  service@newlife.com.tw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7D9B8A"/>
        </a:solidFill>
      </p:bgPr>
    </p:bg>
    <p:spTree>
      <p:nvGrpSpPr>
        <p:cNvPr id="1" name=""/>
        <p:cNvGrpSpPr/>
        <p:nvPr/>
      </p:nvGrpSpPr>
      <p:grpSpPr/>
      <p:sp>
        <p:nvSpPr>
          <p:cNvPr id="20011" name="Num"/>
          <p:cNvSpPr/>
          <p:nvPr/>
        </p:nvSpPr>
        <p:spPr>
          <a:xfrm xmlns:a="http://schemas.openxmlformats.org/drawingml/2006/main">
            <a:off x="1080000" y="1080000"/>
            <a:ext cx="288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600" b="1">
                <a:solidFill>
                  <a:srgbClr val="F5F0EB"/>
                </a:solidFill>
                <a:latin typeface="Calibri"/>
              </a:rPr>
              <a:t>02</a:t>
            </a:r>
          </a:p>
        </p:txBody>
      </p:sp>
      <p:sp>
        <p:nvSpPr>
          <p:cNvPr id="20012" name="Title"/>
          <p:cNvSpPr/>
          <p:nvPr/>
        </p:nvSpPr>
        <p:spPr>
          <a:xfrm xmlns:a="http://schemas.openxmlformats.org/drawingml/2006/main">
            <a:off x="1080000" y="2880000"/>
            <a:ext cx="72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Microsoft JhengHei"/>
                <a:ea typeface="Microsoft JhengHei"/>
              </a:rPr>
              <a:t>關鍵市場趨勢</a:t>
            </a:r>
          </a:p>
        </p:txBody>
      </p:sp>
      <p:sp>
        <p:nvSpPr>
          <p:cNvPr id="20013" name="EnTitle"/>
          <p:cNvSpPr/>
          <p:nvPr/>
        </p:nvSpPr>
        <p:spPr>
          <a:xfrm xmlns:a="http://schemas.openxmlformats.org/drawingml/2006/main">
            <a:off x="1080000" y="3960000"/>
            <a:ext cx="72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spc="300">
                <a:solidFill>
                  <a:srgbClr val="D4CBC0"/>
                </a:solidFill>
                <a:latin typeface="Calibri"/>
              </a:rPr>
              <a:t>Three Key Structural Signals from Data</a:t>
            </a:r>
          </a:p>
        </p:txBody>
      </p:sp>
      <p:sp>
        <p:nvSpPr>
          <p:cNvPr id="20014" name="Line"/>
          <p:cNvSpPr/>
          <p:nvPr/>
        </p:nvSpPr>
        <p:spPr>
          <a:xfrm xmlns:a="http://schemas.openxmlformats.org/drawingml/2006/main">
            <a:off x="1080000" y="5040000"/>
            <a:ext cx="108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7D9B8A"/>
        </a:solidFill>
      </p:bgPr>
    </p:bg>
    <p:spTree>
      <p:nvGrpSpPr>
        <p:cNvPr id="1" name=""/>
        <p:cNvGrpSpPr/>
        <p:nvPr/>
      </p:nvGrpSpPr>
      <p:grpSpPr/>
      <p:sp>
        <p:nvSpPr>
          <p:cNvPr id="30011" name="Num"/>
          <p:cNvSpPr/>
          <p:nvPr/>
        </p:nvSpPr>
        <p:spPr>
          <a:xfrm xmlns:a="http://schemas.openxmlformats.org/drawingml/2006/main">
            <a:off x="1080000" y="1080000"/>
            <a:ext cx="288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600" b="1">
                <a:solidFill>
                  <a:srgbClr val="F5F0EB"/>
                </a:solidFill>
                <a:latin typeface="Calibri"/>
              </a:rPr>
              <a:t>03</a:t>
            </a:r>
          </a:p>
        </p:txBody>
      </p:sp>
      <p:sp>
        <p:nvSpPr>
          <p:cNvPr id="30012" name="Title"/>
          <p:cNvSpPr/>
          <p:nvPr/>
        </p:nvSpPr>
        <p:spPr>
          <a:xfrm xmlns:a="http://schemas.openxmlformats.org/drawingml/2006/main">
            <a:off x="1080000" y="2880000"/>
            <a:ext cx="72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Microsoft JhengHei"/>
                <a:ea typeface="Microsoft JhengHei"/>
              </a:rPr>
              <a:t>下季行動建議</a:t>
            </a:r>
          </a:p>
        </p:txBody>
      </p:sp>
      <p:sp>
        <p:nvSpPr>
          <p:cNvPr id="30013" name="EnTitle"/>
          <p:cNvSpPr/>
          <p:nvPr/>
        </p:nvSpPr>
        <p:spPr>
          <a:xfrm xmlns:a="http://schemas.openxmlformats.org/drawingml/2006/main">
            <a:off x="1080000" y="3960000"/>
            <a:ext cx="72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spc="300">
                <a:solidFill>
                  <a:srgbClr val="D4CBC0"/>
                </a:solidFill>
                <a:latin typeface="Calibri"/>
              </a:rPr>
              <a:t>Q1 2023 Strategic Action Plan</a:t>
            </a:r>
          </a:p>
        </p:txBody>
      </p:sp>
      <p:sp>
        <p:nvSpPr>
          <p:cNvPr id="30014" name="Line"/>
          <p:cNvSpPr/>
          <p:nvPr/>
        </p:nvSpPr>
        <p:spPr>
          <a:xfrm xmlns:a="http://schemas.openxmlformats.org/drawingml/2006/main">
            <a:off x="1080000" y="5040000"/>
            <a:ext cx="108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0EB"/>
        </a:solidFill>
      </p:bgPr>
    </p:bg>
    <p:spTree>
      <p:nvGrpSpPr>
        <p:cNvPr id="1" name=""/>
        <p:cNvGrpSpPr/>
        <p:nvPr/>
      </p:nvGrpSpPr>
      <p:grpSpPr/>
      <p:sp>
        <p:nvSpPr>
          <p:cNvPr id="30015" name="Header"/>
          <p:cNvSpPr/>
          <p:nvPr/>
        </p:nvSpPr>
        <p:spPr>
          <a:xfrm xmlns:a="http://schemas.openxmlformats.org/drawingml/2006/main">
            <a:off x="0" y="0"/>
            <a:ext cx="121932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D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0016" name="Title"/>
          <p:cNvSpPr/>
          <p:nvPr/>
        </p:nvSpPr>
        <p:spPr>
          <a:xfrm xmlns:a="http://schemas.openxmlformats.org/drawingml/2006/main">
            <a:off x="720000" y="18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Microsoft JhengHei"/>
                <a:ea typeface="Microsoft JhengHei"/>
              </a:rPr>
              <a:t>下季行動建議</a:t>
            </a:r>
          </a:p>
        </p:txBody>
      </p:sp>
      <p:sp>
        <p:nvSpPr>
          <p:cNvPr id="30017" name="Brand"/>
          <p:cNvSpPr/>
          <p:nvPr/>
        </p:nvSpPr>
        <p:spPr>
          <a:xfrm xmlns:a="http://schemas.openxmlformats.org/drawingml/2006/main">
            <a:off x="9720000" y="360000"/>
            <a:ext cx="1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C4A882"/>
                </a:solidFill>
                <a:latin typeface="Microsoft JhengHei"/>
                <a:ea typeface="Microsoft JhengHei"/>
              </a:rPr>
              <a:t>新語生活</a:t>
            </a:r>
          </a:p>
        </p:txBody>
      </p:sp>
      <p:sp>
        <p:nvSpPr>
          <p:cNvPr id="30018" name="Line"/>
          <p:cNvSpPr/>
          <p:nvPr/>
        </p:nvSpPr>
        <p:spPr>
          <a:xfrm xmlns:a="http://schemas.openxmlformats.org/drawingml/2006/main">
            <a:off x="720000" y="1260000"/>
            <a:ext cx="144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0019" name="Content"/>
          <p:cNvSpPr/>
          <p:nvPr/>
        </p:nvSpPr>
        <p:spPr>
          <a:xfrm xmlns:a="http://schemas.openxmlformats.org/drawingml/2006/main">
            <a:off x="720000" y="1620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 b="1">
                <a:solidFill>
                  <a:srgbClr val="C4A882"/>
                </a:solidFill>
                <a:latin typeface="Microsoft JhengHei"/>
                <a:ea typeface="Microsoft JhengHei"/>
              </a:rPr>
              <a:t>【立即執行】</a:t>
            </a:r>
            <a:r>
              <a:rPr lang="en-US" sz="1800" b="1">
                <a:solidFill>
                  <a:srgbClr val="3A3632"/>
                </a:solidFill>
                <a:latin typeface="Microsoft JhengHei"/>
                <a:ea typeface="Microsoft JhengHei"/>
              </a:rPr>
              <a:t xml:space="preserve">  平滑2月淡季衝擊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400">
                <a:solidFill>
                  <a:srgbClr val="6B6560"/>
                </a:solidFill>
                <a:latin typeface="Microsoft JhengHei"/>
                <a:ea typeface="Microsoft JhengHei"/>
              </a:rPr>
              <a:t>規劃「春節後換新居」主題促銷，滿額贈 + 限時折扣，目標拉升2月營收至 $145K（YoY +13%）</a:t>
            </a:r>
          </a:p>
          <a:p xmlns:a="http://schemas.openxmlformats.org/drawingml/2006/main">
            <a:pPr algn="l">
              <a:lnSpc>
                <a:spcPct val="100000"/>
              </a:lnSpc>
            </a:pPr>
            <a:r>
              <a:rPr lang="en-US" sz="600">
                <a:solidFill>
                  <a:srgbClr val="3A3632"/>
                </a:solidFill>
              </a:rPr>
              <a:t/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 b="1">
                <a:solidFill>
                  <a:srgbClr val="7D9B8A"/>
                </a:solidFill>
                <a:latin typeface="Microsoft JhengHei"/>
                <a:ea typeface="Microsoft JhengHei"/>
              </a:rPr>
              <a:t>【本季重點】</a:t>
            </a:r>
            <a:r>
              <a:rPr lang="en-US" sz="1800" b="1">
                <a:solidFill>
                  <a:srgbClr val="3A3632"/>
                </a:solidFill>
                <a:latin typeface="Microsoft JhengHei"/>
                <a:ea typeface="Microsoft JhengHei"/>
              </a:rPr>
              <a:t xml:space="preserve">  強化供應鏈成本管理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400">
                <a:solidFill>
                  <a:srgbClr val="6B6560"/>
                </a:solidFill>
                <a:latin typeface="Microsoft JhengHei"/>
                <a:ea typeface="Microsoft JhengHei"/>
              </a:rPr>
              <a:t>洽談 Q1 供應商長約，目標利潤率提升至 38%（Q4已達 39.9%，具可行性）</a:t>
            </a:r>
          </a:p>
          <a:p xmlns:a="http://schemas.openxmlformats.org/drawingml/2006/main">
            <a:pPr algn="l">
              <a:lnSpc>
                <a:spcPct val="100000"/>
              </a:lnSpc>
            </a:pPr>
            <a:r>
              <a:rPr lang="en-US" sz="600">
                <a:solidFill>
                  <a:srgbClr val="3A3632"/>
                </a:solidFill>
              </a:rPr>
              <a:t/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 b="1">
                <a:solidFill>
                  <a:srgbClr val="8B7D6B"/>
                </a:solidFill>
                <a:latin typeface="Microsoft JhengHei"/>
                <a:ea typeface="Microsoft JhengHei"/>
              </a:rPr>
              <a:t>【策略布局】</a:t>
            </a:r>
            <a:r>
              <a:rPr lang="en-US" sz="1800" b="1">
                <a:solidFill>
                  <a:srgbClr val="3A3632"/>
                </a:solidFill>
                <a:latin typeface="Microsoft JhengHei"/>
                <a:ea typeface="Microsoft JhengHei"/>
              </a:rPr>
              <a:t xml:space="preserve">  提前籌備 Q4 旺季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400">
                <a:solidFill>
                  <a:srgbClr val="6B6560"/>
                </a:solidFill>
                <a:latin typeface="Microsoft JhengHei"/>
                <a:ea typeface="Microsoft JhengHei"/>
              </a:rPr>
              <a:t>本季啟動選品評估與庫存預測，確保旺季熱門品項有3個月備貨，目標不斷貨率 ≥ 95%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0EB"/>
        </a:solidFill>
      </p:bgPr>
    </p:bg>
    <p:spTree>
      <p:nvGrpSpPr>
        <p:cNvPr id="1" name=""/>
        <p:cNvGrpSpPr/>
        <p:nvPr/>
      </p:nvGrpSpPr>
      <p:grpSpPr/>
      <p:sp>
        <p:nvSpPr>
          <p:cNvPr id="40015" name="Header"/>
          <p:cNvSpPr/>
          <p:nvPr/>
        </p:nvSpPr>
        <p:spPr>
          <a:xfrm xmlns:a="http://schemas.openxmlformats.org/drawingml/2006/main">
            <a:off x="0" y="0"/>
            <a:ext cx="121932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D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0016" name="Title"/>
          <p:cNvSpPr/>
          <p:nvPr/>
        </p:nvSpPr>
        <p:spPr>
          <a:xfrm xmlns:a="http://schemas.openxmlformats.org/drawingml/2006/main">
            <a:off x="720000" y="18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Microsoft JhengHei"/>
                <a:ea typeface="Microsoft JhengHei"/>
              </a:rPr>
              <a:t>行動建議摘要</a:t>
            </a:r>
          </a:p>
        </p:txBody>
      </p:sp>
      <p:sp>
        <p:nvSpPr>
          <p:cNvPr id="40017" name="Brand"/>
          <p:cNvSpPr/>
          <p:nvPr/>
        </p:nvSpPr>
        <p:spPr>
          <a:xfrm xmlns:a="http://schemas.openxmlformats.org/drawingml/2006/main">
            <a:off x="9720000" y="360000"/>
            <a:ext cx="1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C4A882"/>
                </a:solidFill>
                <a:latin typeface="Microsoft JhengHei"/>
                <a:ea typeface="Microsoft JhengHei"/>
              </a:rPr>
              <a:t>新語生活</a:t>
            </a:r>
          </a:p>
        </p:txBody>
      </p:sp>
      <p:sp>
        <p:nvSpPr>
          <p:cNvPr id="40018" name="Line"/>
          <p:cNvSpPr/>
          <p:nvPr/>
        </p:nvSpPr>
        <p:spPr>
          <a:xfrm xmlns:a="http://schemas.openxmlformats.org/drawingml/2006/main">
            <a:off x="720000" y="1260000"/>
            <a:ext cx="144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0024" name="LeftCard"/>
          <p:cNvSpPr/>
          <p:nvPr/>
        </p:nvSpPr>
        <p:spPr>
          <a:xfrm xmlns:a="http://schemas.openxmlformats.org/drawingml/2006/main">
            <a:off x="720000" y="1620000"/>
            <a:ext cx="342000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EBE6"/>
          </a:solidFill>
          <a:ln xmlns:a="http://schemas.openxmlformats.org/drawingml/2006/main" w="6350">
            <a:solidFill>
              <a:srgbClr val="D4CB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0031" name="LeftInner"/>
          <p:cNvSpPr/>
          <p:nvPr/>
        </p:nvSpPr>
        <p:spPr>
          <a:xfrm xmlns:a="http://schemas.openxmlformats.org/drawingml/2006/main">
            <a:off x="1080000" y="1900000"/>
            <a:ext cx="2700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200" b="1">
                <a:solidFill>
                  <a:srgbClr val="C4A882"/>
                </a:solidFill>
                <a:latin typeface="Microsoft JhengHei"/>
                <a:ea typeface="Microsoft JhengHei"/>
              </a:rPr>
              <a:t>立即執行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1800" b="1">
                <a:solidFill>
                  <a:srgbClr val="3A3632"/>
                </a:solidFill>
                <a:latin typeface="Microsoft JhengHei"/>
                <a:ea typeface="Microsoft JhengHei"/>
              </a:rPr>
              <a:t>平滑2月淡季</a:t>
            </a:r>
          </a:p>
          <a:p xmlns:a="http://schemas.openxmlformats.org/drawingml/2006/main">
            <a:pPr algn="l">
              <a:lnSpc>
                <a:spcPct val="100000"/>
              </a:lnSpc>
            </a:pPr>
            <a:r>
              <a:rPr lang="en-US" sz="500">
                <a:solidFill>
                  <a:srgbClr val="3A3632"/>
                </a:solidFill>
              </a:rPr>
              <a:t/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200">
                <a:solidFill>
                  <a:srgbClr val="6B6560"/>
                </a:solidFill>
                <a:latin typeface="Microsoft JhengHei"/>
                <a:ea typeface="Microsoft JhengHei"/>
              </a:rPr>
              <a:t>行銷：春節後換新居促銷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200">
                <a:solidFill>
                  <a:srgbClr val="6B6560"/>
                </a:solidFill>
                <a:latin typeface="Microsoft JhengHei"/>
                <a:ea typeface="Microsoft JhengHei"/>
              </a:rPr>
              <a:t>電商：滿額贈與限時折扣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200">
                <a:solidFill>
                  <a:srgbClr val="6B6560"/>
                </a:solidFill>
                <a:latin typeface="Microsoft JhengHei"/>
                <a:ea typeface="Microsoft JhengHei"/>
              </a:rPr>
              <a:t>數據：建立周度銷售追蹤</a:t>
            </a:r>
          </a:p>
          <a:p xmlns:a="http://schemas.openxmlformats.org/drawingml/2006/main">
            <a:pPr algn="l">
              <a:lnSpc>
                <a:spcPct val="100000"/>
              </a:lnSpc>
            </a:pPr>
            <a:r>
              <a:rPr lang="en-US" sz="500">
                <a:solidFill>
                  <a:srgbClr val="3A3632"/>
                </a:solidFill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1300" b="1">
                <a:solidFill>
                  <a:srgbClr val="3A3632"/>
                </a:solidFill>
                <a:latin typeface="Calibri"/>
              </a:rPr>
              <a:t>目標：2月 $145K</a:t>
            </a:r>
          </a:p>
        </p:txBody>
      </p:sp>
      <p:sp>
        <p:nvSpPr>
          <p:cNvPr id="40025" name="MidCard"/>
          <p:cNvSpPr/>
          <p:nvPr/>
        </p:nvSpPr>
        <p:spPr>
          <a:xfrm xmlns:a="http://schemas.openxmlformats.org/drawingml/2006/main">
            <a:off x="4500000" y="1620000"/>
            <a:ext cx="342000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EBE6"/>
          </a:solidFill>
          <a:ln xmlns:a="http://schemas.openxmlformats.org/drawingml/2006/main" w="6350">
            <a:solidFill>
              <a:srgbClr val="D4CB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0032" name="MidInner"/>
          <p:cNvSpPr/>
          <p:nvPr/>
        </p:nvSpPr>
        <p:spPr>
          <a:xfrm xmlns:a="http://schemas.openxmlformats.org/drawingml/2006/main">
            <a:off x="4860000" y="1900000"/>
            <a:ext cx="2700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200" b="1">
                <a:solidFill>
                  <a:srgbClr val="7D9B8A"/>
                </a:solidFill>
                <a:latin typeface="Microsoft JhengHei"/>
                <a:ea typeface="Microsoft JhengHei"/>
              </a:rPr>
              <a:t>本季重點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1800" b="1">
                <a:solidFill>
                  <a:srgbClr val="3A3632"/>
                </a:solidFill>
                <a:latin typeface="Microsoft JhengHei"/>
                <a:ea typeface="Microsoft JhengHei"/>
              </a:rPr>
              <a:t>成本管理優化</a:t>
            </a:r>
          </a:p>
          <a:p xmlns:a="http://schemas.openxmlformats.org/drawingml/2006/main">
            <a:pPr algn="l">
              <a:lnSpc>
                <a:spcPct val="100000"/>
              </a:lnSpc>
            </a:pPr>
            <a:r>
              <a:rPr lang="en-US" sz="500">
                <a:solidFill>
                  <a:srgbClr val="3A3632"/>
                </a:solidFill>
              </a:rPr>
              <a:t/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200">
                <a:solidFill>
                  <a:srgbClr val="6B6560"/>
                </a:solidFill>
                <a:latin typeface="Microsoft JhengHei"/>
                <a:ea typeface="Microsoft JhengHei"/>
              </a:rPr>
              <a:t>採購：洽談Q1長約優惠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200">
                <a:solidFill>
                  <a:srgbClr val="6B6560"/>
                </a:solidFill>
                <a:latin typeface="Microsoft JhengHei"/>
                <a:ea typeface="Microsoft JhengHei"/>
              </a:rPr>
              <a:t>物流：審查倉儲配送成本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200">
                <a:solidFill>
                  <a:srgbClr val="6B6560"/>
                </a:solidFill>
                <a:latin typeface="Microsoft JhengHei"/>
                <a:ea typeface="Microsoft JhengHei"/>
              </a:rPr>
              <a:t>財務：建立月度紅綠燈報告</a:t>
            </a:r>
          </a:p>
          <a:p xmlns:a="http://schemas.openxmlformats.org/drawingml/2006/main">
            <a:pPr algn="l">
              <a:lnSpc>
                <a:spcPct val="100000"/>
              </a:lnSpc>
            </a:pPr>
            <a:r>
              <a:rPr lang="en-US" sz="500">
                <a:solidFill>
                  <a:srgbClr val="3A3632"/>
                </a:solidFill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1300" b="1">
                <a:solidFill>
                  <a:srgbClr val="3A3632"/>
                </a:solidFill>
                <a:latin typeface="Calibri"/>
              </a:rPr>
              <a:t>目標：Q1利潤率 38%</a:t>
            </a:r>
          </a:p>
        </p:txBody>
      </p:sp>
      <p:sp>
        <p:nvSpPr>
          <p:cNvPr id="40027" name="RightCard"/>
          <p:cNvSpPr/>
          <p:nvPr/>
        </p:nvSpPr>
        <p:spPr>
          <a:xfrm xmlns:a="http://schemas.openxmlformats.org/drawingml/2006/main">
            <a:off x="8280000" y="1620000"/>
            <a:ext cx="342000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EBE6"/>
          </a:solidFill>
          <a:ln xmlns:a="http://schemas.openxmlformats.org/drawingml/2006/main" w="6350">
            <a:solidFill>
              <a:srgbClr val="D4CB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0033" name="RightInner"/>
          <p:cNvSpPr/>
          <p:nvPr/>
        </p:nvSpPr>
        <p:spPr>
          <a:xfrm xmlns:a="http://schemas.openxmlformats.org/drawingml/2006/main">
            <a:off x="8640000" y="1900000"/>
            <a:ext cx="2700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200" b="1">
                <a:solidFill>
                  <a:srgbClr val="8B7D6B"/>
                </a:solidFill>
                <a:latin typeface="Microsoft JhengHei"/>
                <a:ea typeface="Microsoft JhengHei"/>
              </a:rPr>
              <a:t>策略布局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1800" b="1">
                <a:solidFill>
                  <a:srgbClr val="3A3632"/>
                </a:solidFill>
                <a:latin typeface="Microsoft JhengHei"/>
                <a:ea typeface="Microsoft JhengHei"/>
              </a:rPr>
              <a:t>提前備戰Q4旺季</a:t>
            </a:r>
          </a:p>
          <a:p xmlns:a="http://schemas.openxmlformats.org/drawingml/2006/main">
            <a:pPr algn="l">
              <a:lnSpc>
                <a:spcPct val="100000"/>
              </a:lnSpc>
            </a:pPr>
            <a:r>
              <a:rPr lang="en-US" sz="500">
                <a:solidFill>
                  <a:srgbClr val="3A3632"/>
                </a:solidFill>
              </a:rPr>
              <a:t/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200">
                <a:solidFill>
                  <a:srgbClr val="6B6560"/>
                </a:solidFill>
                <a:latin typeface="Microsoft JhengHei"/>
                <a:ea typeface="Microsoft JhengHei"/>
              </a:rPr>
              <a:t>商品：旺季選品評估排名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200">
                <a:solidFill>
                  <a:srgbClr val="6B6560"/>
                </a:solidFill>
                <a:latin typeface="Microsoft JhengHei"/>
                <a:ea typeface="Microsoft JhengHei"/>
              </a:rPr>
              <a:t>倉儲：3個月安全庫存模型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200">
                <a:solidFill>
                  <a:srgbClr val="6B6560"/>
                </a:solidFill>
                <a:latin typeface="Microsoft JhengHei"/>
                <a:ea typeface="Microsoft JhengHei"/>
              </a:rPr>
              <a:t>BI：導入需求預測工具</a:t>
            </a:r>
          </a:p>
          <a:p xmlns:a="http://schemas.openxmlformats.org/drawingml/2006/main">
            <a:pPr algn="l">
              <a:lnSpc>
                <a:spcPct val="100000"/>
              </a:lnSpc>
            </a:pPr>
            <a:r>
              <a:rPr lang="en-US" sz="500">
                <a:solidFill>
                  <a:srgbClr val="3A3632"/>
                </a:solidFill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1300" b="1">
                <a:solidFill>
                  <a:srgbClr val="3A3632"/>
                </a:solidFill>
                <a:latin typeface="Calibri"/>
              </a:rPr>
              <a:t>目標：不斷貨率 ≥ 95%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