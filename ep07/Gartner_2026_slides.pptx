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3" r:id="rId3"/>
    <p:sldId id="265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1422BF-A900-06B2-8567-450CDDC5A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787993A-3133-5663-42D7-45C068CE2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5A6EBA-DADF-4D35-23A3-BE47AE0C0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1E5347-3BBE-44D3-6AA1-6326C3225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924EC8-D5BF-6E6C-6CD6-CE357F691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3137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CA5DEB-DC57-46CD-B43E-C3102E2F0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9E4547-9BE4-E538-3719-5B0B7FD0E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28AA72-85CA-758B-8006-2017C0A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614902-5718-536F-DEAC-ADD4FDF65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3B4B1E-1DB9-3CDB-320F-F24C3919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311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9287AB-302C-C28B-F5AD-884B68364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7726404-AD98-25D3-B507-3DC575CDD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8C1E62-92CE-5E6D-6C95-4DC08B1DF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ECAE37-F5E7-000E-FAE0-0A4804842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9B6434-D65D-612F-5A98-A93128063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373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559BC7-8B6F-6E1A-EE8F-E6FD1B0D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94E72F-6CA4-3341-0028-3A924D6648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E604618-0AF2-48BD-52E2-633AEF785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2B08D41-8D1E-D481-C3CD-89E344563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36496B2-105F-4979-809B-0B1AF9BE5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4F433F-2805-6EE3-D4B6-3B6BAAD6D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752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CD9F17-1D97-ECC7-CC29-46B537F28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0B7CEB-6DDD-3A6E-3397-B18CA5707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FD6D825-AFAE-BE95-2C35-06C2AF7E9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E7A1516-018B-AECC-18E4-ED93D69DA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F1ED088-3E5E-6E4D-3062-E69C6DDD3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836BE2A-67A8-46EF-0D2F-072EA987F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FF5DCEF-2DFA-E664-B720-D348D37B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62FC9B6-8AFF-75DD-51E5-F1F41F68B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9064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961999-BBC6-4FB6-8185-76F19AEB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C65D29A-377A-AC1A-193F-E343C2C45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B1EB00B-E9E8-9359-A082-858497809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D994548-8C4B-81E3-CD37-92C2B125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725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5414BB6-C7BC-8FC6-7DC5-D6E8E460B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0863454-3D2C-1DCE-5C6C-201A8BAF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2DFE10-3AA7-2D1A-3570-ABAA3F922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0714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27A5A-2704-8D82-1F67-9E0BF94F9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083DA4-B89C-5D37-1FF3-75AB690A1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1CDCE05-0678-00A8-462E-B1D7BDE52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32E194-A949-7DD9-9C92-7628686F0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11DB49-D06A-B2F3-EC8A-3BB4F28E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E48BC01-3F4B-E90C-707B-FB1D812BA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6015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FB0552-3CFE-D93D-6F34-9CACB3AB7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57F43BA-7353-8D60-01DC-D4814318A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386C107-B023-C39E-69E8-8E8EE193C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7BFE083-A809-F417-85DC-70E9471FE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FF1867F-D3EB-1490-5600-402A539DB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31EB3E-D7B6-1CE5-D1EC-931E36745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193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79FBE4-1B65-A431-A119-9E330DC4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474637-F7F6-07DB-4BE2-D7B99FFC5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22CD33-ECAA-CE45-B085-34F7869B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4D7298-A483-058F-97D0-79A92C19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24B181-C214-66F8-D211-D2466900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3735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715D337-8298-35C5-B2F8-D226706B2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CB05AD5-C358-9AC1-6C26-B72E30DC6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5477A8-C719-0122-554C-4B90B24B3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455EAB-E69E-700D-D7DB-ADBCE8B1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C1E02C-8FF1-A7C5-5D7B-17522C17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5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1422BF-A900-06B2-8567-450CDDC5A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787993A-3133-5663-42D7-45C068CE2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5A6EBA-DADF-4D35-23A3-BE47AE0C0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1E5347-3BBE-44D3-6AA1-6326C3225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924EC8-D5BF-6E6C-6CD6-CE357F691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3137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CA5DEB-DC57-46CD-B43E-C3102E2F0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9E4547-9BE4-E538-3719-5B0B7FD0E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28AA72-85CA-758B-8006-2017C0A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614902-5718-536F-DEAC-ADD4FDF65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3B4B1E-1DB9-3CDB-320F-F24C3919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311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9287AB-302C-C28B-F5AD-884B68364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7726404-AD98-25D3-B507-3DC575CDD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8C1E62-92CE-5E6D-6C95-4DC08B1DF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ECAE37-F5E7-000E-FAE0-0A4804842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9B6434-D65D-612F-5A98-A93128063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3738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559BC7-8B6F-6E1A-EE8F-E6FD1B0D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94E72F-6CA4-3341-0028-3A924D6648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E604618-0AF2-48BD-52E2-633AEF785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2B08D41-8D1E-D481-C3CD-89E344563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36496B2-105F-4979-809B-0B1AF9BE5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4F433F-2805-6EE3-D4B6-3B6BAAD6D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7526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CD9F17-1D97-ECC7-CC29-46B537F28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0B7CEB-6DDD-3A6E-3397-B18CA5707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FD6D825-AFAE-BE95-2C35-06C2AF7E9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E7A1516-018B-AECC-18E4-ED93D69DA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F1ED088-3E5E-6E4D-3062-E69C6DDD3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836BE2A-67A8-46EF-0D2F-072EA987F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FF5DCEF-2DFA-E664-B720-D348D37B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62FC9B6-8AFF-75DD-51E5-F1F41F68B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90642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961999-BBC6-4FB6-8185-76F19AEB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C65D29A-377A-AC1A-193F-E343C2C45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B1EB00B-E9E8-9359-A082-858497809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D994548-8C4B-81E3-CD37-92C2B125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72556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5414BB6-C7BC-8FC6-7DC5-D6E8E460B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0863454-3D2C-1DCE-5C6C-201A8BAFD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2DFE10-3AA7-2D1A-3570-ABAA3F922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07142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27A5A-2704-8D82-1F67-9E0BF94F9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083DA4-B89C-5D37-1FF3-75AB690A1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1CDCE05-0678-00A8-462E-B1D7BDE52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32E194-A949-7DD9-9C92-7628686F0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11DB49-D06A-B2F3-EC8A-3BB4F28E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E48BC01-3F4B-E90C-707B-FB1D812BA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60159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FB0552-3CFE-D93D-6F34-9CACB3AB7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57F43BA-7353-8D60-01DC-D4814318A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386C107-B023-C39E-69E8-8E8EE193C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7BFE083-A809-F417-85DC-70E9471FE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FF1867F-D3EB-1490-5600-402A539DB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31EB3E-D7B6-1CE5-D1EC-931E36745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1935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79FBE4-1B65-A431-A119-9E330DC4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474637-F7F6-07DB-4BE2-D7B99FFC5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22CD33-ECAA-CE45-B085-34F7869B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4D7298-A483-058F-97D0-79A92C19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24B181-C214-66F8-D211-D2466900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37355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715D337-8298-35C5-B2F8-D226706B2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CB05AD5-C358-9AC1-6C26-B72E30DC6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5477A8-C719-0122-554C-4B90B24B3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455EAB-E69E-700D-D7DB-ADBCE8B1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C1E02C-8FF1-A7C5-5D7B-17522C17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5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ECDCAF5-8E0A-15F1-4CB7-D05D699BA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F08384-2E43-0D03-4599-93671695E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01314D-3D6B-6A2E-AD0C-03274E5B90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0D455E-378F-F027-87BF-9970BD41E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128FDE-06DC-EDE4-4D58-A080B2ECA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290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B2A"/>
            </a:gs>
            <a:gs pos="60000">
              <a:srgbClr val="152238"/>
            </a:gs>
            <a:gs pos="100000">
              <a:srgbClr val="1B283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ECDCAF5-8E0A-15F1-4CB7-D05D699BA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F08384-2E43-0D03-4599-93671695E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01314D-3D6B-6A2E-AD0C-03274E5B90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C8277-4B95-48E5-89C1-AA818557F575}" type="datetimeFigureOut">
              <a:rPr lang="zh-TW" altLang="en-US" smtClean="0"/>
              <a:t>2026/3/25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F0D455E-378F-F027-87BF-9970BD41EE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128FDE-06DC-EDE4-4D58-A080B2ECA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D4B4D-61AB-4F0C-A203-1AD727A7CE8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00" name="AccentBar"/>
          <p:cNvSpPr/>
          <p:nvPr userDrawn="1"/>
        </p:nvSpPr>
        <p:spPr>
          <a:xfrm>
            <a:off x="0" y="6583050"/>
            <a:ext cx="12192000" cy="274320"/>
          </a:xfrm>
          <a:prstGeom prst="rect">
            <a:avLst/>
          </a:prstGeom>
          <a:gradFill>
            <a:gsLst>
              <a:gs pos="0">
                <a:srgbClr val="00D4AA"/>
              </a:gs>
              <a:gs pos="50000">
                <a:srgbClr val="7C4DFF"/>
              </a:gs>
              <a:gs pos="100000">
                <a:srgbClr val="40C4FF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290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0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0D8E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D0D8E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D0D8E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8E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8E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8E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8E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8E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8E0"/>
          </a:solidFill>
          <a:latin typeface="+mn-lt"/>
          <a:ea typeface="+mn-ea"/>
          <a:cs typeface="+mn-cs"/>
        </a:defRPr>
      </a:lvl9pPr>
    </p:bodyStyle>
    <p:otherStyle>
      <a:defPPr>
        <a:defRPr lang="zh-TW">
          <a:solidFill>
            <a:srgbClr val="D0D8E0"/>
          </a:solidFill>
        </a:defRPr>
      </a:defPPr>
      <a:lvl1pPr marL="0" algn="l" defTabSz="914400" rtl="0" eaLnBrk="1" latinLnBrk="0" hangingPunct="1">
        <a:defRPr sz="1800" kern="1200">
          <a:solidFill>
            <a:srgbClr val="D0D8E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D0D8E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D0D8E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D0D8E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D0D8E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D0D8E0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D0D8E0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D0D8E0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D0D8E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09C914-42B2-8116-D5D6-AFFC74BECA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3600" b="1">
                <a:solidFill>
                  <a:srgbClr val="00D4AA"/>
                </a:solidFill>
              </a:rPr>
              <a:t>Gartner 2026
</a:t>
            </a:r>
            <a:r>
              <a:rPr lang="zh-TW" altLang="en-US" sz="3600" b="1">
                <a:solidFill>
                  <a:srgbClr val="00D4AA"/>
                </a:solidFill>
              </a:rPr>
              <a:t>十大策略科技趨勢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9939D6C-F40C-6D25-3F8D-19C37BF50C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2000" dirty="0">
                <a:solidFill>
                  <a:srgbClr val="E8E8E8"/>
                </a:solidFill>
              </a:rPr>
              <a:t>AI 驅動的超連結世界：建構、整合、防護</a:t>
            </a:r>
          </a:p>
        </p:txBody>
      </p:sp>
    </p:spTree>
    <p:extLst>
      <p:ext uri="{BB962C8B-B14F-4D97-AF65-F5344CB8AC3E}">
        <p14:creationId xmlns:p14="http://schemas.microsoft.com/office/powerpoint/2010/main" val="715285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35C683-F693-BDB8-91EA-5B3FDE90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b="1" dirty="0">
                <a:solidFill>
                  <a:srgbClr val="1B2838"/>
                </a:solidFill>
              </a:rPr>
              <a:t>三大策略主題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EA60B76-1E39-4B67-9899-E04AFDA803DB}"/>
              </a:ext>
            </a:extLst>
          </p:cNvPr>
          <p:cNvSpPr/>
          <p:nvPr/>
        </p:nvSpPr>
        <p:spPr>
          <a:xfrm>
            <a:off x="762000" y="1905000"/>
            <a:ext cx="3302000" cy="3556000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676C73-B7CB-484B-A4E4-852730705C72}"/>
              </a:ext>
            </a:extLst>
          </p:cNvPr>
          <p:cNvSpPr/>
          <p:nvPr/>
        </p:nvSpPr>
        <p:spPr>
          <a:xfrm>
            <a:off x="762000" y="1629234"/>
            <a:ext cx="3302000" cy="762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02C78F6-9991-4CCC-8480-2B343AB4FD70}"/>
              </a:ext>
            </a:extLst>
          </p:cNvPr>
          <p:cNvSpPr txBox="1"/>
          <p:nvPr/>
        </p:nvSpPr>
        <p:spPr>
          <a:xfrm>
            <a:off x="952500" y="2159000"/>
            <a:ext cx="292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00D4AA"/>
                </a:solidFill>
              </a:rPr>
              <a:t>The Architect
</a:t>
            </a:r>
            <a:r>
              <a:rPr lang="zh-TW" altLang="en-US" sz="1600" b="1">
                <a:solidFill>
                  <a:srgbClr val="00D4AA"/>
                </a:solidFill>
              </a:rPr>
              <a:t>架構師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79D7C6C-9F2A-4824-A5DA-540C2C393A85}"/>
              </a:ext>
            </a:extLst>
          </p:cNvPr>
          <p:cNvSpPr txBox="1"/>
          <p:nvPr/>
        </p:nvSpPr>
        <p:spPr>
          <a:xfrm>
            <a:off x="952500" y="29845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>
                <a:solidFill>
                  <a:srgbClr val="D0D8E0"/>
                </a:solidFill>
              </a:rPr>
              <a:t>建構安全、可擴展的
</a:t>
            </a:r>
            <a:r>
              <a:rPr lang="en-US" altLang="zh-TW" sz="1400">
                <a:solidFill>
                  <a:srgbClr val="D0D8E0"/>
                </a:solidFill>
              </a:rPr>
              <a:t>AI </a:t>
            </a:r>
            <a:r>
              <a:rPr lang="zh-TW" altLang="en-US" sz="1400">
                <a:solidFill>
                  <a:srgbClr val="D0D8E0"/>
                </a:solidFill>
              </a:rPr>
              <a:t>數位基礎架構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3E0DDD9-3CD5-427F-9421-7DFA9103F703}"/>
              </a:ext>
            </a:extLst>
          </p:cNvPr>
          <p:cNvSpPr txBox="1"/>
          <p:nvPr/>
        </p:nvSpPr>
        <p:spPr>
          <a:xfrm>
            <a:off x="952500" y="3746500"/>
            <a:ext cx="2921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zh-TW" sz="1400">
                <a:solidFill>
                  <a:srgbClr val="F0F0F0"/>
                </a:solidFill>
              </a:rPr>
              <a:t>① AI </a:t>
            </a:r>
            <a:r>
              <a:rPr lang="zh-TW" altLang="en-US" sz="1400">
                <a:solidFill>
                  <a:srgbClr val="F0F0F0"/>
                </a:solidFill>
              </a:rPr>
              <a:t>原生開發平台
② </a:t>
            </a:r>
            <a:r>
              <a:rPr lang="en-US" altLang="zh-TW" sz="1400">
                <a:solidFill>
                  <a:srgbClr val="F0F0F0"/>
                </a:solidFill>
              </a:rPr>
              <a:t>AI </a:t>
            </a:r>
            <a:r>
              <a:rPr lang="zh-TW" altLang="en-US" sz="1400">
                <a:solidFill>
                  <a:srgbClr val="F0F0F0"/>
                </a:solidFill>
              </a:rPr>
              <a:t>超級運算平台
③ 機密運算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7B4823D-3667-40F4-9244-A5BFC53F154A}"/>
              </a:ext>
            </a:extLst>
          </p:cNvPr>
          <p:cNvSpPr/>
          <p:nvPr/>
        </p:nvSpPr>
        <p:spPr>
          <a:xfrm>
            <a:off x="4445000" y="1905000"/>
            <a:ext cx="3302000" cy="3556000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7C4D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B52E52-7325-4D0C-8979-7ECEC0B785A0}"/>
              </a:ext>
            </a:extLst>
          </p:cNvPr>
          <p:cNvSpPr/>
          <p:nvPr/>
        </p:nvSpPr>
        <p:spPr>
          <a:xfrm>
            <a:off x="4445000" y="1629234"/>
            <a:ext cx="3302000" cy="76200"/>
          </a:xfrm>
          <a:prstGeom prst="rect">
            <a:avLst/>
          </a:prstGeom>
          <a:solidFill>
            <a:srgbClr val="7C4D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D3C5892-D629-4537-98E7-6E56315EF362}"/>
              </a:ext>
            </a:extLst>
          </p:cNvPr>
          <p:cNvSpPr txBox="1"/>
          <p:nvPr/>
        </p:nvSpPr>
        <p:spPr>
          <a:xfrm>
            <a:off x="4635500" y="2159000"/>
            <a:ext cx="292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7C4DFF"/>
                </a:solidFill>
              </a:rPr>
              <a:t>The Synthesist
</a:t>
            </a:r>
            <a:r>
              <a:rPr lang="zh-TW" altLang="en-US" sz="1600" b="1">
                <a:solidFill>
                  <a:srgbClr val="7C4DFF"/>
                </a:solidFill>
              </a:rPr>
              <a:t>整合者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771E5F0-8325-4549-892F-698E5977C911}"/>
              </a:ext>
            </a:extLst>
          </p:cNvPr>
          <p:cNvSpPr txBox="1"/>
          <p:nvPr/>
        </p:nvSpPr>
        <p:spPr>
          <a:xfrm>
            <a:off x="4635500" y="29845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>
                <a:solidFill>
                  <a:srgbClr val="D0D8E0"/>
                </a:solidFill>
              </a:rPr>
              <a:t>協調智慧系統
驅動業務價值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97E14FB-BBC7-4D03-8742-9197FB4D92F2}"/>
              </a:ext>
            </a:extLst>
          </p:cNvPr>
          <p:cNvSpPr txBox="1"/>
          <p:nvPr/>
        </p:nvSpPr>
        <p:spPr>
          <a:xfrm>
            <a:off x="4635500" y="3746500"/>
            <a:ext cx="2921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TW" altLang="en-US" sz="1400">
                <a:solidFill>
                  <a:srgbClr val="F0F0F0"/>
                </a:solidFill>
              </a:rPr>
              <a:t>④ 多代理系統
⑤ 領域專用語言模型
⑥ 實體 </a:t>
            </a:r>
            <a:r>
              <a:rPr lang="en-US" altLang="zh-TW" sz="1400">
                <a:solidFill>
                  <a:srgbClr val="F0F0F0"/>
                </a:solidFill>
              </a:rPr>
              <a:t>AI</a:t>
            </a:r>
            <a:endParaRPr lang="zh-TW" altLang="en-US" sz="1400">
              <a:solidFill>
                <a:srgbClr val="F0F0F0"/>
              </a:solidFill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622E5CD5-358C-4E7C-B991-06F8088448D3}"/>
              </a:ext>
            </a:extLst>
          </p:cNvPr>
          <p:cNvSpPr/>
          <p:nvPr/>
        </p:nvSpPr>
        <p:spPr>
          <a:xfrm>
            <a:off x="8128000" y="1905000"/>
            <a:ext cx="3302000" cy="3556000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FF6F6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164675-C5F7-4A2D-A8B3-03DBDD7DD4B2}"/>
              </a:ext>
            </a:extLst>
          </p:cNvPr>
          <p:cNvSpPr/>
          <p:nvPr/>
        </p:nvSpPr>
        <p:spPr>
          <a:xfrm>
            <a:off x="8128000" y="1629234"/>
            <a:ext cx="3302000" cy="76200"/>
          </a:xfrm>
          <a:prstGeom prst="rect">
            <a:avLst/>
          </a:prstGeom>
          <a:solidFill>
            <a:srgbClr val="FF6F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1BB341F-92E7-4E0B-9353-21CE8FE74A24}"/>
              </a:ext>
            </a:extLst>
          </p:cNvPr>
          <p:cNvSpPr txBox="1"/>
          <p:nvPr/>
        </p:nvSpPr>
        <p:spPr>
          <a:xfrm>
            <a:off x="8318500" y="2159000"/>
            <a:ext cx="2921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FF6F61"/>
                </a:solidFill>
              </a:rPr>
              <a:t>The Sentinel
</a:t>
            </a:r>
            <a:r>
              <a:rPr lang="zh-TW" altLang="en-US" sz="1600" b="1">
                <a:solidFill>
                  <a:srgbClr val="FF6F61"/>
                </a:solidFill>
              </a:rPr>
              <a:t>守護者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3402B41-3E16-4F70-B51B-E4A39B4FAF12}"/>
              </a:ext>
            </a:extLst>
          </p:cNvPr>
          <p:cNvSpPr txBox="1"/>
          <p:nvPr/>
        </p:nvSpPr>
        <p:spPr>
          <a:xfrm>
            <a:off x="8318500" y="29845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>
                <a:solidFill>
                  <a:srgbClr val="D0D8E0"/>
                </a:solidFill>
              </a:rPr>
              <a:t>保護信任、資料
與合規性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FCE91F9-5E7E-4361-83AD-006ECCB91986}"/>
              </a:ext>
            </a:extLst>
          </p:cNvPr>
          <p:cNvSpPr txBox="1"/>
          <p:nvPr/>
        </p:nvSpPr>
        <p:spPr>
          <a:xfrm>
            <a:off x="8318500" y="3746500"/>
            <a:ext cx="2921000" cy="152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TW" altLang="en-US" sz="1400">
                <a:solidFill>
                  <a:srgbClr val="F0F0F0"/>
                </a:solidFill>
              </a:rPr>
              <a:t>⑦ 先制式資安
⑧ 數位溯源
⑨ </a:t>
            </a:r>
            <a:r>
              <a:rPr lang="en-US" altLang="zh-TW" sz="1400">
                <a:solidFill>
                  <a:srgbClr val="F0F0F0"/>
                </a:solidFill>
              </a:rPr>
              <a:t>AI </a:t>
            </a:r>
            <a:r>
              <a:rPr lang="zh-TW" altLang="en-US" sz="1400">
                <a:solidFill>
                  <a:srgbClr val="F0F0F0"/>
                </a:solidFill>
              </a:rPr>
              <a:t>安全平台
⑩ 地緣資料回流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E5B5598-5ECA-4629-9F14-4D0A76E89576}"/>
              </a:ext>
            </a:extLst>
          </p:cNvPr>
          <p:cNvSpPr txBox="1"/>
          <p:nvPr/>
        </p:nvSpPr>
        <p:spPr>
          <a:xfrm>
            <a:off x="457200" y="59690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sz="1400">
                <a:solidFill>
                  <a:srgbClr val="7A8A99"/>
                </a:solidFill>
              </a:rPr>
              <a:t>資料來源：</a:t>
            </a:r>
            <a:r>
              <a:rPr lang="en-US" altLang="zh-TW" sz="1400">
                <a:solidFill>
                  <a:srgbClr val="7A8A99"/>
                </a:solidFill>
              </a:rPr>
              <a:t>Gartner IT Symposium/Xpo 2025</a:t>
            </a:r>
            <a:endParaRPr lang="zh-TW" altLang="en-US" sz="1400">
              <a:solidFill>
                <a:srgbClr val="7A8A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549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B1FD55-7FC4-A446-B3CF-A388EF63E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>
                <a:solidFill>
                  <a:srgbClr val="00D4AA"/>
                </a:solidFill>
              </a:rPr>
              <a:t>The Architect </a:t>
            </a:r>
            <a:r>
              <a:rPr lang="zh-TW" altLang="en-US" sz="2800" b="1">
                <a:solidFill>
                  <a:srgbClr val="00D4AA"/>
                </a:solidFill>
              </a:rPr>
              <a:t>架構師：奠定 </a:t>
            </a:r>
            <a:r>
              <a:rPr lang="en-US" altLang="zh-TW" sz="2800" b="1">
                <a:solidFill>
                  <a:srgbClr val="00D4AA"/>
                </a:solidFill>
              </a:rPr>
              <a:t>AI </a:t>
            </a:r>
            <a:r>
              <a:rPr lang="zh-TW" altLang="en-US" sz="2800" b="1">
                <a:solidFill>
                  <a:srgbClr val="00D4AA"/>
                </a:solidFill>
              </a:rPr>
              <a:t>基礎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9A53D0C-6C0F-4D00-8AE9-177D71A4D7D1}"/>
              </a:ext>
            </a:extLst>
          </p:cNvPr>
          <p:cNvSpPr/>
          <p:nvPr/>
        </p:nvSpPr>
        <p:spPr>
          <a:xfrm>
            <a:off x="635000" y="1968500"/>
            <a:ext cx="1524000" cy="50800"/>
          </a:xfrm>
          <a:prstGeom prst="rect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CA10DD6-3379-4BEE-B452-DFD0B998BC0C}"/>
              </a:ext>
            </a:extLst>
          </p:cNvPr>
          <p:cNvSpPr/>
          <p:nvPr/>
        </p:nvSpPr>
        <p:spPr>
          <a:xfrm>
            <a:off x="698500" y="2286000"/>
            <a:ext cx="3429000" cy="3683000"/>
          </a:xfrm>
          <a:prstGeom prst="roundRect">
            <a:avLst/>
          </a:prstGeom>
          <a:solidFill>
            <a:srgbClr val="1522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1A34E7DB-88A8-4D19-B77C-D2DCDFE0A80A}"/>
              </a:ext>
            </a:extLst>
          </p:cNvPr>
          <p:cNvSpPr/>
          <p:nvPr/>
        </p:nvSpPr>
        <p:spPr>
          <a:xfrm>
            <a:off x="889000" y="2540000"/>
            <a:ext cx="609600" cy="609600"/>
          </a:xfrm>
          <a:prstGeom prst="ellipse">
            <a:avLst/>
          </a:prstGeom>
          <a:solidFill>
            <a:srgbClr val="00D4A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b="1">
                <a:solidFill>
                  <a:srgbClr val="0D1B2A"/>
                </a:solidFill>
              </a:rPr>
              <a:t>01</a:t>
            </a:r>
            <a:endParaRPr lang="zh-TW" altLang="en-US" b="1">
              <a:solidFill>
                <a:srgbClr val="0D1B2A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E5E1F90-72EF-4EAA-9F60-ECA404138457}"/>
              </a:ext>
            </a:extLst>
          </p:cNvPr>
          <p:cNvSpPr txBox="1"/>
          <p:nvPr/>
        </p:nvSpPr>
        <p:spPr>
          <a:xfrm>
            <a:off x="889000" y="3302000"/>
            <a:ext cx="304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b="1">
                <a:solidFill>
                  <a:srgbClr val="F0F0F0"/>
                </a:solidFill>
              </a:rPr>
              <a:t>AI </a:t>
            </a:r>
            <a:r>
              <a:rPr lang="zh-TW" altLang="en-US" b="1">
                <a:solidFill>
                  <a:srgbClr val="F0F0F0"/>
                </a:solidFill>
              </a:rPr>
              <a:t>原生開發平台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FFCE22F-8838-415C-A954-023781B71AF4}"/>
              </a:ext>
            </a:extLst>
          </p:cNvPr>
          <p:cNvSpPr txBox="1"/>
          <p:nvPr/>
        </p:nvSpPr>
        <p:spPr>
          <a:xfrm>
            <a:off x="889000" y="3937000"/>
            <a:ext cx="3048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TW" altLang="en-US" sz="1400">
                <a:solidFill>
                  <a:srgbClr val="B0BEC5"/>
                </a:solidFill>
              </a:rPr>
              <a:t>將生成式 </a:t>
            </a:r>
            <a:r>
              <a:rPr lang="en-US" altLang="zh-TW" sz="1400">
                <a:solidFill>
                  <a:srgbClr val="B0BEC5"/>
                </a:solidFill>
              </a:rPr>
              <a:t>AI </a:t>
            </a:r>
            <a:r>
              <a:rPr lang="zh-TW" altLang="en-US" sz="1400">
                <a:solidFill>
                  <a:srgbClr val="B0BEC5"/>
                </a:solidFill>
              </a:rPr>
              <a:t>嵌入軟體開發全流程。到 </a:t>
            </a:r>
            <a:r>
              <a:rPr lang="en-US" altLang="zh-TW" sz="1400">
                <a:solidFill>
                  <a:srgbClr val="B0BEC5"/>
                </a:solidFill>
              </a:rPr>
              <a:t>2030 </a:t>
            </a:r>
            <a:r>
              <a:rPr lang="zh-TW" altLang="en-US" sz="1400">
                <a:solidFill>
                  <a:srgbClr val="B0BEC5"/>
                </a:solidFill>
              </a:rPr>
              <a:t>年，</a:t>
            </a:r>
            <a:r>
              <a:rPr lang="en-US" altLang="zh-TW" sz="1400">
                <a:solidFill>
                  <a:srgbClr val="B0BEC5"/>
                </a:solidFill>
              </a:rPr>
              <a:t>80% </a:t>
            </a:r>
            <a:r>
              <a:rPr lang="zh-TW" altLang="en-US" sz="1400">
                <a:solidFill>
                  <a:srgbClr val="B0BEC5"/>
                </a:solidFill>
              </a:rPr>
              <a:t>組織將轉型為 </a:t>
            </a:r>
            <a:r>
              <a:rPr lang="en-US" altLang="zh-TW" sz="1400">
                <a:solidFill>
                  <a:srgbClr val="B0BEC5"/>
                </a:solidFill>
              </a:rPr>
              <a:t>AI </a:t>
            </a:r>
            <a:r>
              <a:rPr lang="zh-TW" altLang="en-US" sz="1400">
                <a:solidFill>
                  <a:srgbClr val="B0BEC5"/>
                </a:solidFill>
              </a:rPr>
              <a:t>增強的精簡團隊。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18E4882-E86C-431A-A256-6BD813DF9421}"/>
              </a:ext>
            </a:extLst>
          </p:cNvPr>
          <p:cNvSpPr/>
          <p:nvPr/>
        </p:nvSpPr>
        <p:spPr>
          <a:xfrm>
            <a:off x="4381500" y="2286000"/>
            <a:ext cx="3429000" cy="3683000"/>
          </a:xfrm>
          <a:prstGeom prst="roundRect">
            <a:avLst/>
          </a:prstGeom>
          <a:solidFill>
            <a:srgbClr val="1522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9911B118-07BB-4872-810A-36247D450C57}"/>
              </a:ext>
            </a:extLst>
          </p:cNvPr>
          <p:cNvSpPr/>
          <p:nvPr/>
        </p:nvSpPr>
        <p:spPr>
          <a:xfrm>
            <a:off x="4572000" y="2540000"/>
            <a:ext cx="609600" cy="609600"/>
          </a:xfrm>
          <a:prstGeom prst="ellipse">
            <a:avLst/>
          </a:prstGeom>
          <a:solidFill>
            <a:srgbClr val="40C4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b="1">
                <a:solidFill>
                  <a:srgbClr val="0D1B2A"/>
                </a:solidFill>
              </a:rPr>
              <a:t>02</a:t>
            </a:r>
            <a:endParaRPr lang="zh-TW" altLang="en-US" b="1">
              <a:solidFill>
                <a:srgbClr val="0D1B2A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92C74DA-24F2-4D3E-B201-335C812D919B}"/>
              </a:ext>
            </a:extLst>
          </p:cNvPr>
          <p:cNvSpPr txBox="1"/>
          <p:nvPr/>
        </p:nvSpPr>
        <p:spPr>
          <a:xfrm>
            <a:off x="4572000" y="3302000"/>
            <a:ext cx="304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b="1">
                <a:solidFill>
                  <a:srgbClr val="F0F0F0"/>
                </a:solidFill>
              </a:rPr>
              <a:t>AI </a:t>
            </a:r>
            <a:r>
              <a:rPr lang="zh-TW" altLang="en-US" b="1">
                <a:solidFill>
                  <a:srgbClr val="F0F0F0"/>
                </a:solidFill>
              </a:rPr>
              <a:t>超級運算平台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DE51FAF-1673-477D-819B-ED02919800F1}"/>
              </a:ext>
            </a:extLst>
          </p:cNvPr>
          <p:cNvSpPr txBox="1"/>
          <p:nvPr/>
        </p:nvSpPr>
        <p:spPr>
          <a:xfrm>
            <a:off x="4572000" y="3937000"/>
            <a:ext cx="3048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TW" altLang="en-US" sz="1400">
                <a:solidFill>
                  <a:srgbClr val="B0BEC5"/>
                </a:solidFill>
              </a:rPr>
              <a:t>整合 </a:t>
            </a:r>
            <a:r>
              <a:rPr lang="en-US" altLang="zh-TW" sz="1400">
                <a:solidFill>
                  <a:srgbClr val="B0BEC5"/>
                </a:solidFill>
              </a:rPr>
              <a:t>CPU</a:t>
            </a:r>
            <a:r>
              <a:rPr lang="zh-TW" altLang="en-US" sz="1400">
                <a:solidFill>
                  <a:srgbClr val="B0BEC5"/>
                </a:solidFill>
              </a:rPr>
              <a:t>、</a:t>
            </a:r>
            <a:r>
              <a:rPr lang="en-US" altLang="zh-TW" sz="1400">
                <a:solidFill>
                  <a:srgbClr val="B0BEC5"/>
                </a:solidFill>
              </a:rPr>
              <a:t>GPU</a:t>
            </a:r>
            <a:r>
              <a:rPr lang="zh-TW" altLang="en-US" sz="1400">
                <a:solidFill>
                  <a:srgbClr val="B0BEC5"/>
                </a:solidFill>
              </a:rPr>
              <a:t>、神經型態運算等混合架構。到 </a:t>
            </a:r>
            <a:r>
              <a:rPr lang="en-US" altLang="zh-TW" sz="1400">
                <a:solidFill>
                  <a:srgbClr val="B0BEC5"/>
                </a:solidFill>
              </a:rPr>
              <a:t>2028 </a:t>
            </a:r>
            <a:r>
              <a:rPr lang="zh-TW" altLang="en-US" sz="1400">
                <a:solidFill>
                  <a:srgbClr val="B0BEC5"/>
                </a:solidFill>
              </a:rPr>
              <a:t>年，</a:t>
            </a:r>
            <a:r>
              <a:rPr lang="en-US" altLang="zh-TW" sz="1400">
                <a:solidFill>
                  <a:srgbClr val="B0BEC5"/>
                </a:solidFill>
              </a:rPr>
              <a:t>40% </a:t>
            </a:r>
            <a:r>
              <a:rPr lang="zh-TW" altLang="en-US" sz="1400">
                <a:solidFill>
                  <a:srgbClr val="B0BEC5"/>
                </a:solidFill>
              </a:rPr>
              <a:t>企業將導入混合運算架構。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B56702C-9FD2-4118-BEC7-9D02348863F1}"/>
              </a:ext>
            </a:extLst>
          </p:cNvPr>
          <p:cNvSpPr/>
          <p:nvPr/>
        </p:nvSpPr>
        <p:spPr>
          <a:xfrm>
            <a:off x="8064500" y="2286000"/>
            <a:ext cx="3429000" cy="3683000"/>
          </a:xfrm>
          <a:prstGeom prst="roundRect">
            <a:avLst/>
          </a:prstGeom>
          <a:solidFill>
            <a:srgbClr val="1522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C58E7C44-A0F8-44A6-83A3-A5CA579FB191}"/>
              </a:ext>
            </a:extLst>
          </p:cNvPr>
          <p:cNvSpPr/>
          <p:nvPr/>
        </p:nvSpPr>
        <p:spPr>
          <a:xfrm>
            <a:off x="8255000" y="2540000"/>
            <a:ext cx="609600" cy="609600"/>
          </a:xfrm>
          <a:prstGeom prst="ellipse">
            <a:avLst/>
          </a:prstGeom>
          <a:solidFill>
            <a:srgbClr val="69F0A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b="1">
                <a:solidFill>
                  <a:srgbClr val="0D1B2A"/>
                </a:solidFill>
              </a:rPr>
              <a:t>03</a:t>
            </a:r>
            <a:endParaRPr lang="zh-TW" altLang="en-US" b="1">
              <a:solidFill>
                <a:srgbClr val="0D1B2A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459BFEA-ED2D-4CD7-B8DA-2769BF5D838D}"/>
              </a:ext>
            </a:extLst>
          </p:cNvPr>
          <p:cNvSpPr txBox="1"/>
          <p:nvPr/>
        </p:nvSpPr>
        <p:spPr>
          <a:xfrm>
            <a:off x="8255000" y="3302000"/>
            <a:ext cx="304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b="1">
                <a:solidFill>
                  <a:srgbClr val="F0F0F0"/>
                </a:solidFill>
              </a:rPr>
              <a:t>機密運算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A0C8FD5-0706-4820-9C52-F3B98FBE7F1B}"/>
              </a:ext>
            </a:extLst>
          </p:cNvPr>
          <p:cNvSpPr txBox="1"/>
          <p:nvPr/>
        </p:nvSpPr>
        <p:spPr>
          <a:xfrm>
            <a:off x="8255000" y="3937000"/>
            <a:ext cx="3048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TW" altLang="en-US" sz="1400">
                <a:solidFill>
                  <a:srgbClr val="B0BEC5"/>
                </a:solidFill>
              </a:rPr>
              <a:t>在不受信任的基礎設施中保護使用中的資料。到 </a:t>
            </a:r>
            <a:r>
              <a:rPr lang="en-US" altLang="zh-TW" sz="1400">
                <a:solidFill>
                  <a:srgbClr val="B0BEC5"/>
                </a:solidFill>
              </a:rPr>
              <a:t>2029 </a:t>
            </a:r>
            <a:r>
              <a:rPr lang="zh-TW" altLang="en-US" sz="1400">
                <a:solidFill>
                  <a:srgbClr val="B0BEC5"/>
                </a:solidFill>
              </a:rPr>
              <a:t>年，</a:t>
            </a:r>
            <a:r>
              <a:rPr lang="en-US" altLang="zh-TW" sz="1400">
                <a:solidFill>
                  <a:srgbClr val="B0BEC5"/>
                </a:solidFill>
              </a:rPr>
              <a:t>75% </a:t>
            </a:r>
            <a:r>
              <a:rPr lang="zh-TW" altLang="en-US" sz="1400">
                <a:solidFill>
                  <a:srgbClr val="B0BEC5"/>
                </a:solidFill>
              </a:rPr>
              <a:t>工作負載將受機密運算保護。</a:t>
            </a:r>
          </a:p>
        </p:txBody>
      </p:sp>
    </p:spTree>
    <p:extLst>
      <p:ext uri="{BB962C8B-B14F-4D97-AF65-F5344CB8AC3E}">
        <p14:creationId xmlns:p14="http://schemas.microsoft.com/office/powerpoint/2010/main" val="3136442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C90A6D-42D5-5FD3-8627-4B4BBC9E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>
                <a:solidFill>
                  <a:srgbClr val="7C4DFF"/>
                </a:solidFill>
              </a:rPr>
              <a:t>The Synthesist </a:t>
            </a:r>
            <a:r>
              <a:rPr lang="zh-TW" altLang="en-US" sz="2800" b="1">
                <a:solidFill>
                  <a:srgbClr val="7C4DFF"/>
                </a:solidFill>
              </a:rPr>
              <a:t>整合者：協調智慧系統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2188FA-0D8B-4589-BB61-BCA41087E1CC}"/>
              </a:ext>
            </a:extLst>
          </p:cNvPr>
          <p:cNvSpPr/>
          <p:nvPr/>
        </p:nvSpPr>
        <p:spPr>
          <a:xfrm>
            <a:off x="635000" y="1968500"/>
            <a:ext cx="1524000" cy="50800"/>
          </a:xfrm>
          <a:prstGeom prst="rect">
            <a:avLst/>
          </a:prstGeom>
          <a:solidFill>
            <a:srgbClr val="7C4D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E8AB5BE-4E24-4577-BF3B-531CA85F4DF6}"/>
              </a:ext>
            </a:extLst>
          </p:cNvPr>
          <p:cNvSpPr/>
          <p:nvPr/>
        </p:nvSpPr>
        <p:spPr>
          <a:xfrm>
            <a:off x="698500" y="2286000"/>
            <a:ext cx="3429000" cy="3683000"/>
          </a:xfrm>
          <a:prstGeom prst="roundRect">
            <a:avLst/>
          </a:prstGeom>
          <a:solidFill>
            <a:srgbClr val="1522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9C590912-211C-4BE7-8456-C11DCA1C0CE9}"/>
              </a:ext>
            </a:extLst>
          </p:cNvPr>
          <p:cNvSpPr/>
          <p:nvPr/>
        </p:nvSpPr>
        <p:spPr>
          <a:xfrm>
            <a:off x="889000" y="2540000"/>
            <a:ext cx="609600" cy="609600"/>
          </a:xfrm>
          <a:prstGeom prst="ellipse">
            <a:avLst/>
          </a:prstGeom>
          <a:solidFill>
            <a:srgbClr val="7C4D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b="1">
                <a:solidFill>
                  <a:srgbClr val="0D1B2A"/>
                </a:solidFill>
              </a:rPr>
              <a:t>04</a:t>
            </a:r>
            <a:endParaRPr lang="zh-TW" altLang="en-US" b="1">
              <a:solidFill>
                <a:srgbClr val="0D1B2A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ACD3A9C-257A-400C-B4C2-A192162352D2}"/>
              </a:ext>
            </a:extLst>
          </p:cNvPr>
          <p:cNvSpPr txBox="1"/>
          <p:nvPr/>
        </p:nvSpPr>
        <p:spPr>
          <a:xfrm>
            <a:off x="889000" y="3302000"/>
            <a:ext cx="304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b="1">
                <a:solidFill>
                  <a:srgbClr val="F0F0F0"/>
                </a:solidFill>
              </a:rPr>
              <a:t>多代理系統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A3A09A9-F397-495E-9292-C13D518842F4}"/>
              </a:ext>
            </a:extLst>
          </p:cNvPr>
          <p:cNvSpPr txBox="1"/>
          <p:nvPr/>
        </p:nvSpPr>
        <p:spPr>
          <a:xfrm>
            <a:off x="889000" y="3937000"/>
            <a:ext cx="3048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TW" altLang="en-US" sz="1400">
                <a:solidFill>
                  <a:srgbClr val="B0BEC5"/>
                </a:solidFill>
              </a:rPr>
              <a:t>多個 </a:t>
            </a:r>
            <a:r>
              <a:rPr lang="en-US" altLang="zh-TW" sz="1400">
                <a:solidFill>
                  <a:srgbClr val="B0BEC5"/>
                </a:solidFill>
              </a:rPr>
              <a:t>AI </a:t>
            </a:r>
            <a:r>
              <a:rPr lang="zh-TW" altLang="en-US" sz="1400">
                <a:solidFill>
                  <a:srgbClr val="B0BEC5"/>
                </a:solidFill>
              </a:rPr>
              <a:t>代理協作完成複雜任務，實現模組化自動化與可擴展性，重新定義業務流程。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9E5B182-7700-4FAB-8D65-CB3EF42BCE1E}"/>
              </a:ext>
            </a:extLst>
          </p:cNvPr>
          <p:cNvSpPr/>
          <p:nvPr/>
        </p:nvSpPr>
        <p:spPr>
          <a:xfrm>
            <a:off x="4381500" y="2286000"/>
            <a:ext cx="3429000" cy="3683000"/>
          </a:xfrm>
          <a:prstGeom prst="roundRect">
            <a:avLst/>
          </a:prstGeom>
          <a:solidFill>
            <a:srgbClr val="1522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1DB56516-83E7-4D4A-A9D7-2030C81C76C2}"/>
              </a:ext>
            </a:extLst>
          </p:cNvPr>
          <p:cNvSpPr/>
          <p:nvPr/>
        </p:nvSpPr>
        <p:spPr>
          <a:xfrm>
            <a:off x="4572000" y="2540000"/>
            <a:ext cx="609600" cy="609600"/>
          </a:xfrm>
          <a:prstGeom prst="ellipse">
            <a:avLst/>
          </a:prstGeom>
          <a:solidFill>
            <a:srgbClr val="B388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b="1">
                <a:solidFill>
                  <a:srgbClr val="0D1B2A"/>
                </a:solidFill>
              </a:rPr>
              <a:t>05</a:t>
            </a:r>
            <a:endParaRPr lang="zh-TW" altLang="en-US" b="1">
              <a:solidFill>
                <a:srgbClr val="0D1B2A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E2EF75F-41D8-46CE-9844-2836FD56E6EE}"/>
              </a:ext>
            </a:extLst>
          </p:cNvPr>
          <p:cNvSpPr txBox="1"/>
          <p:nvPr/>
        </p:nvSpPr>
        <p:spPr>
          <a:xfrm>
            <a:off x="4572000" y="3302000"/>
            <a:ext cx="304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b="1">
                <a:solidFill>
                  <a:srgbClr val="F0F0F0"/>
                </a:solidFill>
              </a:rPr>
              <a:t>領域專用語言模型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A1825D1-F16B-4F7D-A30C-8F01BBC14E9F}"/>
              </a:ext>
            </a:extLst>
          </p:cNvPr>
          <p:cNvSpPr txBox="1"/>
          <p:nvPr/>
        </p:nvSpPr>
        <p:spPr>
          <a:xfrm>
            <a:off x="4572000" y="3937000"/>
            <a:ext cx="3048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TW" altLang="en-US" sz="1400">
                <a:solidFill>
                  <a:srgbClr val="B0BEC5"/>
                </a:solidFill>
              </a:rPr>
              <a:t>針對特定產業訓練的 </a:t>
            </a:r>
            <a:r>
              <a:rPr lang="en-US" altLang="zh-TW" sz="1400">
                <a:solidFill>
                  <a:srgbClr val="B0BEC5"/>
                </a:solidFill>
              </a:rPr>
              <a:t>AI </a:t>
            </a:r>
            <a:r>
              <a:rPr lang="zh-TW" altLang="en-US" sz="1400">
                <a:solidFill>
                  <a:srgbClr val="B0BEC5"/>
                </a:solidFill>
              </a:rPr>
              <a:t>模型，比通用模型更精準、更合規，適用於醫療、金融、法規等領域。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55845A39-D095-4BE7-972E-C37A141F835D}"/>
              </a:ext>
            </a:extLst>
          </p:cNvPr>
          <p:cNvSpPr/>
          <p:nvPr/>
        </p:nvSpPr>
        <p:spPr>
          <a:xfrm>
            <a:off x="8064500" y="2286000"/>
            <a:ext cx="3429000" cy="3683000"/>
          </a:xfrm>
          <a:prstGeom prst="roundRect">
            <a:avLst/>
          </a:prstGeom>
          <a:solidFill>
            <a:srgbClr val="1522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27B8E7FD-E8FA-4737-B0AA-6C44E2E82CAC}"/>
              </a:ext>
            </a:extLst>
          </p:cNvPr>
          <p:cNvSpPr/>
          <p:nvPr/>
        </p:nvSpPr>
        <p:spPr>
          <a:xfrm>
            <a:off x="8255000" y="2540000"/>
            <a:ext cx="609600" cy="609600"/>
          </a:xfrm>
          <a:prstGeom prst="ellipse">
            <a:avLst/>
          </a:prstGeom>
          <a:solidFill>
            <a:srgbClr val="E040F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b="1">
                <a:solidFill>
                  <a:srgbClr val="0D1B2A"/>
                </a:solidFill>
              </a:rPr>
              <a:t>06</a:t>
            </a:r>
            <a:endParaRPr lang="zh-TW" altLang="en-US" b="1">
              <a:solidFill>
                <a:srgbClr val="0D1B2A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71CC955-27AD-4978-8CD2-4F50A15C72F0}"/>
              </a:ext>
            </a:extLst>
          </p:cNvPr>
          <p:cNvSpPr txBox="1"/>
          <p:nvPr/>
        </p:nvSpPr>
        <p:spPr>
          <a:xfrm>
            <a:off x="8255000" y="3302000"/>
            <a:ext cx="304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b="1">
                <a:solidFill>
                  <a:srgbClr val="F0F0F0"/>
                </a:solidFill>
              </a:rPr>
              <a:t>實體 </a:t>
            </a:r>
            <a:r>
              <a:rPr lang="en-US" altLang="zh-TW" b="1">
                <a:solidFill>
                  <a:srgbClr val="F0F0F0"/>
                </a:solidFill>
              </a:rPr>
              <a:t>AI</a:t>
            </a:r>
            <a:endParaRPr lang="zh-TW" altLang="en-US" b="1">
              <a:solidFill>
                <a:srgbClr val="F0F0F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C76A839-EB5C-4CEB-8E8B-B314CF1D34AE}"/>
              </a:ext>
            </a:extLst>
          </p:cNvPr>
          <p:cNvSpPr txBox="1"/>
          <p:nvPr/>
        </p:nvSpPr>
        <p:spPr>
          <a:xfrm>
            <a:off x="8255000" y="3937000"/>
            <a:ext cx="3048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zh-TW" sz="1400">
                <a:solidFill>
                  <a:srgbClr val="B0BEC5"/>
                </a:solidFill>
              </a:rPr>
              <a:t>AI </a:t>
            </a:r>
            <a:r>
              <a:rPr lang="zh-TW" altLang="en-US" sz="1400">
                <a:solidFill>
                  <a:srgbClr val="B0BEC5"/>
                </a:solidFill>
              </a:rPr>
              <a:t>進入真實世界，驅動機器人、無人機與智慧設備自主感知、決策與行動。</a:t>
            </a:r>
          </a:p>
        </p:txBody>
      </p:sp>
    </p:spTree>
    <p:extLst>
      <p:ext uri="{BB962C8B-B14F-4D97-AF65-F5344CB8AC3E}">
        <p14:creationId xmlns:p14="http://schemas.microsoft.com/office/powerpoint/2010/main" val="204764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ED0555-2B3E-6ABA-ECCD-5E2DA1ED4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>
                <a:solidFill>
                  <a:srgbClr val="FF6F61"/>
                </a:solidFill>
              </a:rPr>
              <a:t>The Sentinel </a:t>
            </a:r>
            <a:r>
              <a:rPr lang="zh-TW" altLang="en-US" sz="2800" b="1">
                <a:solidFill>
                  <a:srgbClr val="FF6F61"/>
                </a:solidFill>
              </a:rPr>
              <a:t>守護者：保護信任與合規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423478-FC2D-41A9-8FBD-863155CA43E9}"/>
              </a:ext>
            </a:extLst>
          </p:cNvPr>
          <p:cNvSpPr/>
          <p:nvPr/>
        </p:nvSpPr>
        <p:spPr>
          <a:xfrm>
            <a:off x="635000" y="1460500"/>
            <a:ext cx="1524000" cy="50800"/>
          </a:xfrm>
          <a:prstGeom prst="rect">
            <a:avLst/>
          </a:prstGeom>
          <a:solidFill>
            <a:srgbClr val="FF6F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FDD29FD-DC6D-4765-98DB-56C525993876}"/>
              </a:ext>
            </a:extLst>
          </p:cNvPr>
          <p:cNvSpPr/>
          <p:nvPr/>
        </p:nvSpPr>
        <p:spPr>
          <a:xfrm>
            <a:off x="698500" y="1778000"/>
            <a:ext cx="3429000" cy="2921000"/>
          </a:xfrm>
          <a:prstGeom prst="roundRect">
            <a:avLst/>
          </a:prstGeom>
          <a:solidFill>
            <a:srgbClr val="1522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AA081090-388E-46DB-89C6-B83B9BCA4AD0}"/>
              </a:ext>
            </a:extLst>
          </p:cNvPr>
          <p:cNvSpPr/>
          <p:nvPr/>
        </p:nvSpPr>
        <p:spPr>
          <a:xfrm>
            <a:off x="889000" y="2032000"/>
            <a:ext cx="609600" cy="609600"/>
          </a:xfrm>
          <a:prstGeom prst="ellipse">
            <a:avLst/>
          </a:prstGeom>
          <a:solidFill>
            <a:srgbClr val="FF6F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b="1">
                <a:solidFill>
                  <a:srgbClr val="0D1B2A"/>
                </a:solidFill>
              </a:rPr>
              <a:t>07</a:t>
            </a:r>
            <a:endParaRPr lang="zh-TW" altLang="en-US" b="1">
              <a:solidFill>
                <a:srgbClr val="0D1B2A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ECB1063-09C2-49CA-9CC5-6274C281B6EB}"/>
              </a:ext>
            </a:extLst>
          </p:cNvPr>
          <p:cNvSpPr txBox="1"/>
          <p:nvPr/>
        </p:nvSpPr>
        <p:spPr>
          <a:xfrm>
            <a:off x="889000" y="2794000"/>
            <a:ext cx="304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b="1">
                <a:solidFill>
                  <a:srgbClr val="F0F0F0"/>
                </a:solidFill>
              </a:rPr>
              <a:t>先制式資安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263443D-B7DC-4890-B66C-01A49549665C}"/>
              </a:ext>
            </a:extLst>
          </p:cNvPr>
          <p:cNvSpPr txBox="1"/>
          <p:nvPr/>
        </p:nvSpPr>
        <p:spPr>
          <a:xfrm>
            <a:off x="889000" y="33655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TW" altLang="en-US" sz="1400">
                <a:solidFill>
                  <a:srgbClr val="B0BEC5"/>
                </a:solidFill>
              </a:rPr>
              <a:t>從被動防禦轉向主動預測。到 </a:t>
            </a:r>
            <a:r>
              <a:rPr lang="en-US" altLang="zh-TW" sz="1400">
                <a:solidFill>
                  <a:srgbClr val="B0BEC5"/>
                </a:solidFill>
              </a:rPr>
              <a:t>2030 </a:t>
            </a:r>
            <a:r>
              <a:rPr lang="zh-TW" altLang="en-US" sz="1400">
                <a:solidFill>
                  <a:srgbClr val="B0BEC5"/>
                </a:solidFill>
              </a:rPr>
              <a:t>年，先制式方案將佔安全支出的一半。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5220848-962C-4267-A3FE-BBD9583D6F98}"/>
              </a:ext>
            </a:extLst>
          </p:cNvPr>
          <p:cNvSpPr/>
          <p:nvPr/>
        </p:nvSpPr>
        <p:spPr>
          <a:xfrm>
            <a:off x="4381500" y="1778000"/>
            <a:ext cx="3429000" cy="2921000"/>
          </a:xfrm>
          <a:prstGeom prst="roundRect">
            <a:avLst/>
          </a:prstGeom>
          <a:solidFill>
            <a:srgbClr val="1522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7AB9DC4-0DA6-4F52-99EF-664647892054}"/>
              </a:ext>
            </a:extLst>
          </p:cNvPr>
          <p:cNvSpPr/>
          <p:nvPr/>
        </p:nvSpPr>
        <p:spPr>
          <a:xfrm>
            <a:off x="4572000" y="2032000"/>
            <a:ext cx="609600" cy="609600"/>
          </a:xfrm>
          <a:prstGeom prst="ellipse">
            <a:avLst/>
          </a:prstGeom>
          <a:solidFill>
            <a:srgbClr val="FF8A8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b="1">
                <a:solidFill>
                  <a:srgbClr val="0D1B2A"/>
                </a:solidFill>
              </a:rPr>
              <a:t>08</a:t>
            </a:r>
            <a:endParaRPr lang="zh-TW" altLang="en-US" b="1">
              <a:solidFill>
                <a:srgbClr val="0D1B2A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0270CE7-3619-4C1B-95C6-3581BBC0D9E5}"/>
              </a:ext>
            </a:extLst>
          </p:cNvPr>
          <p:cNvSpPr txBox="1"/>
          <p:nvPr/>
        </p:nvSpPr>
        <p:spPr>
          <a:xfrm>
            <a:off x="4572000" y="2794000"/>
            <a:ext cx="304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b="1">
                <a:solidFill>
                  <a:srgbClr val="F0F0F0"/>
                </a:solidFill>
              </a:rPr>
              <a:t>數位溯源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3CBCA7F-DA31-4467-AAAE-9DCDF917F50D}"/>
              </a:ext>
            </a:extLst>
          </p:cNvPr>
          <p:cNvSpPr txBox="1"/>
          <p:nvPr/>
        </p:nvSpPr>
        <p:spPr>
          <a:xfrm>
            <a:off x="4572000" y="33655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TW" altLang="en-US" sz="1400">
                <a:solidFill>
                  <a:srgbClr val="B0BEC5"/>
                </a:solidFill>
              </a:rPr>
              <a:t>驗證軟體、資料與媒體的來源與完整性。</a:t>
            </a:r>
            <a:r>
              <a:rPr lang="en-US" altLang="zh-TW" sz="1400">
                <a:solidFill>
                  <a:srgbClr val="B0BEC5"/>
                </a:solidFill>
              </a:rPr>
              <a:t>SBoM </a:t>
            </a:r>
            <a:r>
              <a:rPr lang="zh-TW" altLang="en-US" sz="1400">
                <a:solidFill>
                  <a:srgbClr val="B0BEC5"/>
                </a:solidFill>
              </a:rPr>
              <a:t>和數位浮水印成為必備工具。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EE30A8B-30E2-493F-B611-113B810F4D0B}"/>
              </a:ext>
            </a:extLst>
          </p:cNvPr>
          <p:cNvSpPr/>
          <p:nvPr/>
        </p:nvSpPr>
        <p:spPr>
          <a:xfrm>
            <a:off x="8064500" y="1778000"/>
            <a:ext cx="3429000" cy="2921000"/>
          </a:xfrm>
          <a:prstGeom prst="roundRect">
            <a:avLst/>
          </a:prstGeom>
          <a:solidFill>
            <a:srgbClr val="15223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0AB6888C-0B09-46A5-A260-D64EE24E5F5C}"/>
              </a:ext>
            </a:extLst>
          </p:cNvPr>
          <p:cNvSpPr/>
          <p:nvPr/>
        </p:nvSpPr>
        <p:spPr>
          <a:xfrm>
            <a:off x="8255000" y="2032000"/>
            <a:ext cx="609600" cy="609600"/>
          </a:xfrm>
          <a:prstGeom prst="ellipse">
            <a:avLst/>
          </a:prstGeom>
          <a:solidFill>
            <a:srgbClr val="FFD5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b="1">
                <a:solidFill>
                  <a:srgbClr val="0D1B2A"/>
                </a:solidFill>
              </a:rPr>
              <a:t>09</a:t>
            </a:r>
            <a:endParaRPr lang="zh-TW" altLang="en-US" b="1">
              <a:solidFill>
                <a:srgbClr val="0D1B2A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3CF83B4-FE18-4115-AB5B-94C97EBFEECD}"/>
              </a:ext>
            </a:extLst>
          </p:cNvPr>
          <p:cNvSpPr txBox="1"/>
          <p:nvPr/>
        </p:nvSpPr>
        <p:spPr>
          <a:xfrm>
            <a:off x="8255000" y="2794000"/>
            <a:ext cx="304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b="1">
                <a:solidFill>
                  <a:srgbClr val="F0F0F0"/>
                </a:solidFill>
              </a:rPr>
              <a:t>AI </a:t>
            </a:r>
            <a:r>
              <a:rPr lang="zh-TW" altLang="en-US" b="1">
                <a:solidFill>
                  <a:srgbClr val="F0F0F0"/>
                </a:solidFill>
              </a:rPr>
              <a:t>安全平台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0470495-6193-4618-8A0D-46E8B2615D7D}"/>
              </a:ext>
            </a:extLst>
          </p:cNvPr>
          <p:cNvSpPr txBox="1"/>
          <p:nvPr/>
        </p:nvSpPr>
        <p:spPr>
          <a:xfrm>
            <a:off x="8255000" y="3365500"/>
            <a:ext cx="3048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TW" altLang="en-US" sz="1400">
                <a:solidFill>
                  <a:srgbClr val="B0BEC5"/>
                </a:solidFill>
              </a:rPr>
              <a:t>統一監控與保護企業 </a:t>
            </a:r>
            <a:r>
              <a:rPr lang="en-US" altLang="zh-TW" sz="1400">
                <a:solidFill>
                  <a:srgbClr val="B0BEC5"/>
                </a:solidFill>
              </a:rPr>
              <a:t>AI </a:t>
            </a:r>
            <a:r>
              <a:rPr lang="zh-TW" altLang="en-US" sz="1400">
                <a:solidFill>
                  <a:srgbClr val="B0BEC5"/>
                </a:solidFill>
              </a:rPr>
              <a:t>應用，防範 </a:t>
            </a:r>
            <a:r>
              <a:rPr lang="en-US" altLang="zh-TW" sz="1400">
                <a:solidFill>
                  <a:srgbClr val="B0BEC5"/>
                </a:solidFill>
              </a:rPr>
              <a:t>Prompt </a:t>
            </a:r>
            <a:r>
              <a:rPr lang="zh-TW" altLang="en-US" sz="1400">
                <a:solidFill>
                  <a:srgbClr val="B0BEC5"/>
                </a:solidFill>
              </a:rPr>
              <a:t>注入、資料洩漏等 </a:t>
            </a:r>
            <a:r>
              <a:rPr lang="en-US" altLang="zh-TW" sz="1400">
                <a:solidFill>
                  <a:srgbClr val="B0BEC5"/>
                </a:solidFill>
              </a:rPr>
              <a:t>AI </a:t>
            </a:r>
            <a:r>
              <a:rPr lang="zh-TW" altLang="en-US" sz="1400">
                <a:solidFill>
                  <a:srgbClr val="B0BEC5"/>
                </a:solidFill>
              </a:rPr>
              <a:t>特有風險。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939BE37-DDC9-489F-B170-E0FBFB013B5A}"/>
              </a:ext>
            </a:extLst>
          </p:cNvPr>
          <p:cNvSpPr/>
          <p:nvPr/>
        </p:nvSpPr>
        <p:spPr>
          <a:xfrm>
            <a:off x="698500" y="5016500"/>
            <a:ext cx="10795000" cy="10795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FF6F6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FBCC31-3922-49A7-88AC-D05DBB6A6389}"/>
              </a:ext>
            </a:extLst>
          </p:cNvPr>
          <p:cNvSpPr/>
          <p:nvPr/>
        </p:nvSpPr>
        <p:spPr>
          <a:xfrm>
            <a:off x="889000" y="5207000"/>
            <a:ext cx="609600" cy="609600"/>
          </a:xfrm>
          <a:prstGeom prst="ellipse">
            <a:avLst/>
          </a:prstGeom>
          <a:solidFill>
            <a:srgbClr val="FF6F6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600" b="1">
                <a:solidFill>
                  <a:srgbClr val="0D1B2A"/>
                </a:solidFill>
              </a:rPr>
              <a:t>10</a:t>
            </a:r>
            <a:endParaRPr lang="zh-TW" altLang="en-US" sz="1600" b="1">
              <a:solidFill>
                <a:srgbClr val="0D1B2A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F320EE3-046D-4418-83BB-519F927AE500}"/>
              </a:ext>
            </a:extLst>
          </p:cNvPr>
          <p:cNvSpPr txBox="1"/>
          <p:nvPr/>
        </p:nvSpPr>
        <p:spPr>
          <a:xfrm>
            <a:off x="1651000" y="5143500"/>
            <a:ext cx="381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b="1">
                <a:solidFill>
                  <a:srgbClr val="F0F0F0"/>
                </a:solidFill>
              </a:rPr>
              <a:t>地緣資料回流 </a:t>
            </a:r>
            <a:r>
              <a:rPr lang="en-US" altLang="zh-TW" b="1">
                <a:solidFill>
                  <a:srgbClr val="F0F0F0"/>
                </a:solidFill>
              </a:rPr>
              <a:t>(Geopatriation)</a:t>
            </a:r>
            <a:endParaRPr lang="zh-TW" altLang="en-US" b="1">
              <a:solidFill>
                <a:srgbClr val="F0F0F0"/>
              </a:solidFill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8781753-533C-4738-A4F9-A24895EECAA8}"/>
              </a:ext>
            </a:extLst>
          </p:cNvPr>
          <p:cNvSpPr txBox="1"/>
          <p:nvPr/>
        </p:nvSpPr>
        <p:spPr>
          <a:xfrm>
            <a:off x="1651000" y="5549900"/>
            <a:ext cx="952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TW" altLang="en-US" sz="1400">
                <a:solidFill>
                  <a:srgbClr val="B0BEC5"/>
                </a:solidFill>
              </a:rPr>
              <a:t>因應地緣政治風險，企業將資料從全球公有雲遷移至本地或主權雲端，確保資料主權與法規遵循。</a:t>
            </a:r>
          </a:p>
        </p:txBody>
      </p:sp>
    </p:spTree>
    <p:extLst>
      <p:ext uri="{BB962C8B-B14F-4D97-AF65-F5344CB8AC3E}">
        <p14:creationId xmlns:p14="http://schemas.microsoft.com/office/powerpoint/2010/main" val="2793676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 [1774433634600]">
  <a:themeElements>
    <a:clrScheme name="Gartner Tech 2026">
      <a:dk1>
        <a:srgbClr val="F0F0F0"/>
      </a:dk1>
      <a:lt1>
        <a:srgbClr val="0D1B2A"/>
      </a:lt1>
      <a:dk2>
        <a:srgbClr val="B0BEC5"/>
      </a:dk2>
      <a:lt2>
        <a:srgbClr val="1B2838"/>
      </a:lt2>
      <a:accent1>
        <a:srgbClr val="00D4AA"/>
      </a:accent1>
      <a:accent2>
        <a:srgbClr val="7C4DFF"/>
      </a:accent2>
      <a:accent3>
        <a:srgbClr val="FF6F61"/>
      </a:accent3>
      <a:accent4>
        <a:srgbClr val="FFD54F"/>
      </a:accent4>
      <a:accent5>
        <a:srgbClr val="40C4FF"/>
      </a:accent5>
      <a:accent6>
        <a:srgbClr val="69F0AE"/>
      </a:accent6>
      <a:hlink>
        <a:srgbClr val="0563C1"/>
      </a:hlink>
      <a:folHlink>
        <a:srgbClr val="954F72"/>
      </a:folHlink>
    </a:clrScheme>
    <a:fontScheme name="Tech Modern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293E3B-4B0D-4C84-9020-BB685CBCE064}">
  <we:reference id="wa200010001" version="1.0.0.0" store="en-US" storeType="OMEX"/>
  <we:alternateReferences>
    <we:reference id="WA200010001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428</Words>
  <Application>Microsoft Office PowerPoint</Application>
  <PresentationFormat>寬螢幕</PresentationFormat>
  <Paragraphs>46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Montserrat</vt:lpstr>
      <vt:lpstr>Segoe UI</vt:lpstr>
      <vt:lpstr>Office 佈景主題</vt:lpstr>
      <vt:lpstr>Office 佈景主題 [1774433634600]</vt:lpstr>
      <vt:lpstr>Gartner 2026
十大策略科技趨勢</vt:lpstr>
      <vt:lpstr>三大策略主題</vt:lpstr>
      <vt:lpstr>The Architect 架構師：奠定 AI 基礎</vt:lpstr>
      <vt:lpstr>The Synthesist 整合者：協調智慧系統</vt:lpstr>
      <vt:lpstr>The Sentinel 守護者：保護信任與合規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Tsun-u</dc:creator>
  <cp:lastModifiedBy>Tsun-u</cp:lastModifiedBy>
  <cp:revision>4</cp:revision>
  <dcterms:created xsi:type="dcterms:W3CDTF">2026-03-25T10:13:54Z</dcterms:created>
  <dcterms:modified xsi:type="dcterms:W3CDTF">2026-03-25T10:34:47Z</dcterms:modified>
</cp:coreProperties>
</file>